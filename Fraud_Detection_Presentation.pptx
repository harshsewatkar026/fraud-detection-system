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3"/>
  </p:notesMasterIdLst>
  <p:sldIdLst>
    <p:sldId id="256" r:id="rId2"/>
    <p:sldId id="714" r:id="rId3"/>
    <p:sldId id="674" r:id="rId4"/>
    <p:sldId id="713" r:id="rId5"/>
    <p:sldId id="712" r:id="rId6"/>
    <p:sldId id="716" r:id="rId7"/>
    <p:sldId id="717" r:id="rId8"/>
    <p:sldId id="718" r:id="rId9"/>
    <p:sldId id="719" r:id="rId10"/>
    <p:sldId id="720"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4" d="100"/>
          <a:sy n="74" d="100"/>
        </p:scale>
        <p:origin x="53" y="13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7C230-2FB0-4C5D-9B64-75EC7ADA7875}"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162E35FE-ADE8-438C-88EE-666DC7A0F0D9}">
      <dgm:prSet/>
      <dgm:spPr/>
      <dgm:t>
        <a:bodyPr/>
        <a:lstStyle/>
        <a:p>
          <a:r>
            <a:rPr lang="en-US" b="1"/>
            <a:t>Step 1 - Data Loading &amp; Inspection</a:t>
          </a:r>
          <a:endParaRPr lang="en-US"/>
        </a:p>
      </dgm:t>
    </dgm:pt>
    <dgm:pt modelId="{EF2B8EE9-B628-45D7-AFEA-45CCB93BF7F1}" type="parTrans" cxnId="{A6D1156D-EC86-4FA3-A92D-C6BFEBE7EA2C}">
      <dgm:prSet/>
      <dgm:spPr/>
      <dgm:t>
        <a:bodyPr/>
        <a:lstStyle/>
        <a:p>
          <a:endParaRPr lang="en-US"/>
        </a:p>
      </dgm:t>
    </dgm:pt>
    <dgm:pt modelId="{4039AD9C-6730-4A6F-A166-4AF7AA82BB5F}" type="sibTrans" cxnId="{A6D1156D-EC86-4FA3-A92D-C6BFEBE7EA2C}">
      <dgm:prSet/>
      <dgm:spPr/>
      <dgm:t>
        <a:bodyPr/>
        <a:lstStyle/>
        <a:p>
          <a:endParaRPr lang="en-US"/>
        </a:p>
      </dgm:t>
    </dgm:pt>
    <dgm:pt modelId="{DF939982-CF2A-41FC-90DA-079223406875}">
      <dgm:prSet/>
      <dgm:spPr/>
      <dgm:t>
        <a:bodyPr/>
        <a:lstStyle/>
        <a:p>
          <a:r>
            <a:rPr lang="en-US"/>
            <a:t>Load CSV, check shape, nulls, stats</a:t>
          </a:r>
        </a:p>
      </dgm:t>
    </dgm:pt>
    <dgm:pt modelId="{07CCA4E9-606C-4BE3-92ED-7472321408FF}" type="parTrans" cxnId="{86334F5D-47EB-413C-8F6F-92CE6A1FB905}">
      <dgm:prSet/>
      <dgm:spPr/>
      <dgm:t>
        <a:bodyPr/>
        <a:lstStyle/>
        <a:p>
          <a:endParaRPr lang="en-US"/>
        </a:p>
      </dgm:t>
    </dgm:pt>
    <dgm:pt modelId="{E9A74C53-1D2E-46F6-AFCD-BA1249C919E7}" type="sibTrans" cxnId="{86334F5D-47EB-413C-8F6F-92CE6A1FB905}">
      <dgm:prSet/>
      <dgm:spPr/>
      <dgm:t>
        <a:bodyPr/>
        <a:lstStyle/>
        <a:p>
          <a:endParaRPr lang="en-US"/>
        </a:p>
      </dgm:t>
    </dgm:pt>
    <dgm:pt modelId="{48773C8C-461C-425F-B222-2B24CDEF81E1}">
      <dgm:prSet/>
      <dgm:spPr/>
      <dgm:t>
        <a:bodyPr/>
        <a:lstStyle/>
        <a:p>
          <a:r>
            <a:rPr lang="en-US" b="1"/>
            <a:t>Step 2 - EDA &amp; Visualization</a:t>
          </a:r>
          <a:endParaRPr lang="en-US"/>
        </a:p>
      </dgm:t>
    </dgm:pt>
    <dgm:pt modelId="{AE8CD16E-9F21-4902-88A1-2CCE8718CE58}" type="parTrans" cxnId="{18CE6F9E-CA7F-4350-8CE4-931BCA8B406E}">
      <dgm:prSet/>
      <dgm:spPr/>
      <dgm:t>
        <a:bodyPr/>
        <a:lstStyle/>
        <a:p>
          <a:endParaRPr lang="en-US"/>
        </a:p>
      </dgm:t>
    </dgm:pt>
    <dgm:pt modelId="{D8ECF117-78F4-4B7B-B956-1200E844406A}" type="sibTrans" cxnId="{18CE6F9E-CA7F-4350-8CE4-931BCA8B406E}">
      <dgm:prSet/>
      <dgm:spPr/>
      <dgm:t>
        <a:bodyPr/>
        <a:lstStyle/>
        <a:p>
          <a:endParaRPr lang="en-US"/>
        </a:p>
      </dgm:t>
    </dgm:pt>
    <dgm:pt modelId="{8FE1E3A6-A120-413B-BA5C-3B051BC797D2}">
      <dgm:prSet/>
      <dgm:spPr/>
      <dgm:t>
        <a:bodyPr/>
        <a:lstStyle/>
        <a:p>
          <a:r>
            <a:rPr lang="en-US"/>
            <a:t>Class distribution, fraud by type, amounts</a:t>
          </a:r>
        </a:p>
      </dgm:t>
    </dgm:pt>
    <dgm:pt modelId="{458E7575-CFC3-47D4-9955-789D4B3FC34E}" type="parTrans" cxnId="{C7E72F18-050B-446F-9CCD-DEC404BC1CD8}">
      <dgm:prSet/>
      <dgm:spPr/>
      <dgm:t>
        <a:bodyPr/>
        <a:lstStyle/>
        <a:p>
          <a:endParaRPr lang="en-US"/>
        </a:p>
      </dgm:t>
    </dgm:pt>
    <dgm:pt modelId="{991509D1-4650-412B-B9D5-4CADF08E57CC}" type="sibTrans" cxnId="{C7E72F18-050B-446F-9CCD-DEC404BC1CD8}">
      <dgm:prSet/>
      <dgm:spPr/>
      <dgm:t>
        <a:bodyPr/>
        <a:lstStyle/>
        <a:p>
          <a:endParaRPr lang="en-US"/>
        </a:p>
      </dgm:t>
    </dgm:pt>
    <dgm:pt modelId="{DAED4EC4-64E2-4658-A9F3-3258867B4623}">
      <dgm:prSet/>
      <dgm:spPr/>
      <dgm:t>
        <a:bodyPr/>
        <a:lstStyle/>
        <a:p>
          <a:r>
            <a:rPr lang="en-US" b="1"/>
            <a:t>Step 3 - Feature Engineering</a:t>
          </a:r>
          <a:endParaRPr lang="en-US"/>
        </a:p>
      </dgm:t>
    </dgm:pt>
    <dgm:pt modelId="{DEE540FA-89FD-4886-904D-FDED3FD0130C}" type="parTrans" cxnId="{E77ED386-39A1-452A-826C-F571B903F569}">
      <dgm:prSet/>
      <dgm:spPr/>
      <dgm:t>
        <a:bodyPr/>
        <a:lstStyle/>
        <a:p>
          <a:endParaRPr lang="en-US"/>
        </a:p>
      </dgm:t>
    </dgm:pt>
    <dgm:pt modelId="{475449DF-635D-4ECF-8751-5AC433A7A623}" type="sibTrans" cxnId="{E77ED386-39A1-452A-826C-F571B903F569}">
      <dgm:prSet/>
      <dgm:spPr/>
      <dgm:t>
        <a:bodyPr/>
        <a:lstStyle/>
        <a:p>
          <a:endParaRPr lang="en-US"/>
        </a:p>
      </dgm:t>
    </dgm:pt>
    <dgm:pt modelId="{ED5CE8E8-A291-4036-9B9D-FC18BABEF04F}">
      <dgm:prSet/>
      <dgm:spPr/>
      <dgm:t>
        <a:bodyPr/>
        <a:lstStyle/>
        <a:p>
          <a:r>
            <a:rPr lang="en-US"/>
            <a:t>Balance error features, encoding, drop IDs</a:t>
          </a:r>
        </a:p>
      </dgm:t>
    </dgm:pt>
    <dgm:pt modelId="{FE480FBA-4774-4FA3-A334-FAD976257339}" type="parTrans" cxnId="{BAA55F33-9B90-4505-AF9A-E34E7E266019}">
      <dgm:prSet/>
      <dgm:spPr/>
      <dgm:t>
        <a:bodyPr/>
        <a:lstStyle/>
        <a:p>
          <a:endParaRPr lang="en-US"/>
        </a:p>
      </dgm:t>
    </dgm:pt>
    <dgm:pt modelId="{D07F0148-E4C4-4DC7-BDB0-0CFB7B7B7AF5}" type="sibTrans" cxnId="{BAA55F33-9B90-4505-AF9A-E34E7E266019}">
      <dgm:prSet/>
      <dgm:spPr/>
      <dgm:t>
        <a:bodyPr/>
        <a:lstStyle/>
        <a:p>
          <a:endParaRPr lang="en-US"/>
        </a:p>
      </dgm:t>
    </dgm:pt>
    <dgm:pt modelId="{E4C6E70C-F7A7-47ED-BF84-02E961CFD8C1}">
      <dgm:prSet/>
      <dgm:spPr/>
      <dgm:t>
        <a:bodyPr/>
        <a:lstStyle/>
        <a:p>
          <a:r>
            <a:rPr lang="en-US" b="1"/>
            <a:t>Step 4 - SMOTE + Scaling</a:t>
          </a:r>
          <a:endParaRPr lang="en-US"/>
        </a:p>
      </dgm:t>
    </dgm:pt>
    <dgm:pt modelId="{A240D2EE-87B0-4D79-876D-9E6A47567A6A}" type="parTrans" cxnId="{3936D792-9DD5-4838-A48C-DFB3EC955797}">
      <dgm:prSet/>
      <dgm:spPr/>
      <dgm:t>
        <a:bodyPr/>
        <a:lstStyle/>
        <a:p>
          <a:endParaRPr lang="en-US"/>
        </a:p>
      </dgm:t>
    </dgm:pt>
    <dgm:pt modelId="{837C66CB-D323-463E-AD1B-376AEC32A5DA}" type="sibTrans" cxnId="{3936D792-9DD5-4838-A48C-DFB3EC955797}">
      <dgm:prSet/>
      <dgm:spPr/>
      <dgm:t>
        <a:bodyPr/>
        <a:lstStyle/>
        <a:p>
          <a:endParaRPr lang="en-US"/>
        </a:p>
      </dgm:t>
    </dgm:pt>
    <dgm:pt modelId="{BE2A3926-BA55-468C-9853-711A9E8B693D}">
      <dgm:prSet/>
      <dgm:spPr/>
      <dgm:t>
        <a:bodyPr/>
        <a:lstStyle/>
        <a:p>
          <a:r>
            <a:rPr lang="en-US"/>
            <a:t>Balance classes with SMOTE, StandardScaler</a:t>
          </a:r>
        </a:p>
      </dgm:t>
    </dgm:pt>
    <dgm:pt modelId="{2915FD53-4D9A-483B-A992-7266B42E7C14}" type="parTrans" cxnId="{AF339B7E-9051-439F-838D-762FCABA243A}">
      <dgm:prSet/>
      <dgm:spPr/>
      <dgm:t>
        <a:bodyPr/>
        <a:lstStyle/>
        <a:p>
          <a:endParaRPr lang="en-US"/>
        </a:p>
      </dgm:t>
    </dgm:pt>
    <dgm:pt modelId="{8FB58ABC-BC6B-4C2F-BEA8-9F33709CBFC9}" type="sibTrans" cxnId="{AF339B7E-9051-439F-838D-762FCABA243A}">
      <dgm:prSet/>
      <dgm:spPr/>
      <dgm:t>
        <a:bodyPr/>
        <a:lstStyle/>
        <a:p>
          <a:endParaRPr lang="en-US"/>
        </a:p>
      </dgm:t>
    </dgm:pt>
    <dgm:pt modelId="{D6F37A60-A843-4ED6-8CAE-5BA86E00527C}">
      <dgm:prSet/>
      <dgm:spPr/>
      <dgm:t>
        <a:bodyPr/>
        <a:lstStyle/>
        <a:p>
          <a:r>
            <a:rPr lang="en-US" b="1"/>
            <a:t>Step 5 - Model Training &amp; Evaluation</a:t>
          </a:r>
          <a:endParaRPr lang="en-US"/>
        </a:p>
      </dgm:t>
    </dgm:pt>
    <dgm:pt modelId="{9F341BFB-55D4-4394-BBE0-409F241E322B}" type="parTrans" cxnId="{47E4E2F2-CA1B-4BDD-9968-FD28CC061B8B}">
      <dgm:prSet/>
      <dgm:spPr/>
      <dgm:t>
        <a:bodyPr/>
        <a:lstStyle/>
        <a:p>
          <a:endParaRPr lang="en-US"/>
        </a:p>
      </dgm:t>
    </dgm:pt>
    <dgm:pt modelId="{74AE9E47-8DC0-45AA-B253-8E6CE3566155}" type="sibTrans" cxnId="{47E4E2F2-CA1B-4BDD-9968-FD28CC061B8B}">
      <dgm:prSet/>
      <dgm:spPr/>
      <dgm:t>
        <a:bodyPr/>
        <a:lstStyle/>
        <a:p>
          <a:endParaRPr lang="en-US"/>
        </a:p>
      </dgm:t>
    </dgm:pt>
    <dgm:pt modelId="{12D8B1F7-0B10-4B26-A513-6D5B31021E34}">
      <dgm:prSet/>
      <dgm:spPr/>
      <dgm:t>
        <a:bodyPr/>
        <a:lstStyle/>
        <a:p>
          <a:r>
            <a:rPr lang="en-US"/>
            <a:t>Logistic Regression, Random Forest, Gradient Boosting</a:t>
          </a:r>
        </a:p>
      </dgm:t>
    </dgm:pt>
    <dgm:pt modelId="{1FB8FE7B-1ABB-470C-BD46-DB1977E0E91F}" type="parTrans" cxnId="{7AB11241-22EB-45EC-9D0B-AB165770CCFC}">
      <dgm:prSet/>
      <dgm:spPr/>
      <dgm:t>
        <a:bodyPr/>
        <a:lstStyle/>
        <a:p>
          <a:endParaRPr lang="en-US"/>
        </a:p>
      </dgm:t>
    </dgm:pt>
    <dgm:pt modelId="{D6DEB591-6F73-4D74-81E4-14AB1218C8C3}" type="sibTrans" cxnId="{7AB11241-22EB-45EC-9D0B-AB165770CCFC}">
      <dgm:prSet/>
      <dgm:spPr/>
      <dgm:t>
        <a:bodyPr/>
        <a:lstStyle/>
        <a:p>
          <a:endParaRPr lang="en-US"/>
        </a:p>
      </dgm:t>
    </dgm:pt>
    <dgm:pt modelId="{FC72D9A5-6446-47B5-A198-4C2843F617AF}" type="pres">
      <dgm:prSet presAssocID="{6BD7C230-2FB0-4C5D-9B64-75EC7ADA7875}" presName="diagram" presStyleCnt="0">
        <dgm:presLayoutVars>
          <dgm:dir/>
          <dgm:resizeHandles val="exact"/>
        </dgm:presLayoutVars>
      </dgm:prSet>
      <dgm:spPr/>
    </dgm:pt>
    <dgm:pt modelId="{02F62774-E687-45C0-9779-E5C016894B04}" type="pres">
      <dgm:prSet presAssocID="{162E35FE-ADE8-438C-88EE-666DC7A0F0D9}" presName="node" presStyleLbl="node1" presStyleIdx="0" presStyleCnt="10">
        <dgm:presLayoutVars>
          <dgm:bulletEnabled val="1"/>
        </dgm:presLayoutVars>
      </dgm:prSet>
      <dgm:spPr/>
    </dgm:pt>
    <dgm:pt modelId="{72381BD8-8E10-4B85-834D-CEF38BBEBF71}" type="pres">
      <dgm:prSet presAssocID="{4039AD9C-6730-4A6F-A166-4AF7AA82BB5F}" presName="sibTrans" presStyleCnt="0"/>
      <dgm:spPr/>
    </dgm:pt>
    <dgm:pt modelId="{3542B24C-B339-4D29-9C85-F5E48B081A35}" type="pres">
      <dgm:prSet presAssocID="{DF939982-CF2A-41FC-90DA-079223406875}" presName="node" presStyleLbl="node1" presStyleIdx="1" presStyleCnt="10">
        <dgm:presLayoutVars>
          <dgm:bulletEnabled val="1"/>
        </dgm:presLayoutVars>
      </dgm:prSet>
      <dgm:spPr/>
    </dgm:pt>
    <dgm:pt modelId="{8E947AE8-8F31-45AB-AF46-9A097ED64204}" type="pres">
      <dgm:prSet presAssocID="{E9A74C53-1D2E-46F6-AFCD-BA1249C919E7}" presName="sibTrans" presStyleCnt="0"/>
      <dgm:spPr/>
    </dgm:pt>
    <dgm:pt modelId="{20071915-2949-4860-9461-0A16C5FA630C}" type="pres">
      <dgm:prSet presAssocID="{48773C8C-461C-425F-B222-2B24CDEF81E1}" presName="node" presStyleLbl="node1" presStyleIdx="2" presStyleCnt="10">
        <dgm:presLayoutVars>
          <dgm:bulletEnabled val="1"/>
        </dgm:presLayoutVars>
      </dgm:prSet>
      <dgm:spPr/>
    </dgm:pt>
    <dgm:pt modelId="{EF560EBA-9516-4EAD-815B-762742D144E0}" type="pres">
      <dgm:prSet presAssocID="{D8ECF117-78F4-4B7B-B956-1200E844406A}" presName="sibTrans" presStyleCnt="0"/>
      <dgm:spPr/>
    </dgm:pt>
    <dgm:pt modelId="{3AB33FDC-95A3-44DE-986B-10A6987A74E5}" type="pres">
      <dgm:prSet presAssocID="{8FE1E3A6-A120-413B-BA5C-3B051BC797D2}" presName="node" presStyleLbl="node1" presStyleIdx="3" presStyleCnt="10">
        <dgm:presLayoutVars>
          <dgm:bulletEnabled val="1"/>
        </dgm:presLayoutVars>
      </dgm:prSet>
      <dgm:spPr/>
    </dgm:pt>
    <dgm:pt modelId="{3B880697-DD4C-49D0-9E0A-1B67636C3CEE}" type="pres">
      <dgm:prSet presAssocID="{991509D1-4650-412B-B9D5-4CADF08E57CC}" presName="sibTrans" presStyleCnt="0"/>
      <dgm:spPr/>
    </dgm:pt>
    <dgm:pt modelId="{F89E055D-B86A-4BE0-81FC-1A6C7F0160F9}" type="pres">
      <dgm:prSet presAssocID="{DAED4EC4-64E2-4658-A9F3-3258867B4623}" presName="node" presStyleLbl="node1" presStyleIdx="4" presStyleCnt="10">
        <dgm:presLayoutVars>
          <dgm:bulletEnabled val="1"/>
        </dgm:presLayoutVars>
      </dgm:prSet>
      <dgm:spPr/>
    </dgm:pt>
    <dgm:pt modelId="{9066B1A3-168F-4827-B1D5-643366456EE6}" type="pres">
      <dgm:prSet presAssocID="{475449DF-635D-4ECF-8751-5AC433A7A623}" presName="sibTrans" presStyleCnt="0"/>
      <dgm:spPr/>
    </dgm:pt>
    <dgm:pt modelId="{AA80E203-BBAA-412B-A176-5A08844CE893}" type="pres">
      <dgm:prSet presAssocID="{ED5CE8E8-A291-4036-9B9D-FC18BABEF04F}" presName="node" presStyleLbl="node1" presStyleIdx="5" presStyleCnt="10">
        <dgm:presLayoutVars>
          <dgm:bulletEnabled val="1"/>
        </dgm:presLayoutVars>
      </dgm:prSet>
      <dgm:spPr/>
    </dgm:pt>
    <dgm:pt modelId="{74B4E6E8-11F7-44E2-8326-CE3DC2EDF611}" type="pres">
      <dgm:prSet presAssocID="{D07F0148-E4C4-4DC7-BDB0-0CFB7B7B7AF5}" presName="sibTrans" presStyleCnt="0"/>
      <dgm:spPr/>
    </dgm:pt>
    <dgm:pt modelId="{4B51D567-49FE-4F52-B9EE-BFD93A46FB38}" type="pres">
      <dgm:prSet presAssocID="{E4C6E70C-F7A7-47ED-BF84-02E961CFD8C1}" presName="node" presStyleLbl="node1" presStyleIdx="6" presStyleCnt="10">
        <dgm:presLayoutVars>
          <dgm:bulletEnabled val="1"/>
        </dgm:presLayoutVars>
      </dgm:prSet>
      <dgm:spPr/>
    </dgm:pt>
    <dgm:pt modelId="{EB462E72-812C-4BF7-8768-39C314E5FAF3}" type="pres">
      <dgm:prSet presAssocID="{837C66CB-D323-463E-AD1B-376AEC32A5DA}" presName="sibTrans" presStyleCnt="0"/>
      <dgm:spPr/>
    </dgm:pt>
    <dgm:pt modelId="{3B2617F0-C91C-4DD3-9532-44E2621CA77B}" type="pres">
      <dgm:prSet presAssocID="{BE2A3926-BA55-468C-9853-711A9E8B693D}" presName="node" presStyleLbl="node1" presStyleIdx="7" presStyleCnt="10">
        <dgm:presLayoutVars>
          <dgm:bulletEnabled val="1"/>
        </dgm:presLayoutVars>
      </dgm:prSet>
      <dgm:spPr/>
    </dgm:pt>
    <dgm:pt modelId="{919B95C6-BE4D-4666-B84B-9901C62DF8B6}" type="pres">
      <dgm:prSet presAssocID="{8FB58ABC-BC6B-4C2F-BEA8-9F33709CBFC9}" presName="sibTrans" presStyleCnt="0"/>
      <dgm:spPr/>
    </dgm:pt>
    <dgm:pt modelId="{B7B55D2F-2BC6-45BE-BF57-0A9AA97429AF}" type="pres">
      <dgm:prSet presAssocID="{D6F37A60-A843-4ED6-8CAE-5BA86E00527C}" presName="node" presStyleLbl="node1" presStyleIdx="8" presStyleCnt="10">
        <dgm:presLayoutVars>
          <dgm:bulletEnabled val="1"/>
        </dgm:presLayoutVars>
      </dgm:prSet>
      <dgm:spPr/>
    </dgm:pt>
    <dgm:pt modelId="{0AB13240-0C71-4DC8-83EA-0C4451AE5D11}" type="pres">
      <dgm:prSet presAssocID="{74AE9E47-8DC0-45AA-B253-8E6CE3566155}" presName="sibTrans" presStyleCnt="0"/>
      <dgm:spPr/>
    </dgm:pt>
    <dgm:pt modelId="{D9EB31BE-DB2A-4F70-951A-D03895AB4F27}" type="pres">
      <dgm:prSet presAssocID="{12D8B1F7-0B10-4B26-A513-6D5B31021E34}" presName="node" presStyleLbl="node1" presStyleIdx="9" presStyleCnt="10">
        <dgm:presLayoutVars>
          <dgm:bulletEnabled val="1"/>
        </dgm:presLayoutVars>
      </dgm:prSet>
      <dgm:spPr/>
    </dgm:pt>
  </dgm:ptLst>
  <dgm:cxnLst>
    <dgm:cxn modelId="{D4A5150A-07FD-4DA4-9756-68A175864E4F}" type="presOf" srcId="{DF939982-CF2A-41FC-90DA-079223406875}" destId="{3542B24C-B339-4D29-9C85-F5E48B081A35}" srcOrd="0" destOrd="0" presId="urn:microsoft.com/office/officeart/2005/8/layout/default"/>
    <dgm:cxn modelId="{C7E72F18-050B-446F-9CCD-DEC404BC1CD8}" srcId="{6BD7C230-2FB0-4C5D-9B64-75EC7ADA7875}" destId="{8FE1E3A6-A120-413B-BA5C-3B051BC797D2}" srcOrd="3" destOrd="0" parTransId="{458E7575-CFC3-47D4-9955-789D4B3FC34E}" sibTransId="{991509D1-4650-412B-B9D5-4CADF08E57CC}"/>
    <dgm:cxn modelId="{BAA55F33-9B90-4505-AF9A-E34E7E266019}" srcId="{6BD7C230-2FB0-4C5D-9B64-75EC7ADA7875}" destId="{ED5CE8E8-A291-4036-9B9D-FC18BABEF04F}" srcOrd="5" destOrd="0" parTransId="{FE480FBA-4774-4FA3-A334-FAD976257339}" sibTransId="{D07F0148-E4C4-4DC7-BDB0-0CFB7B7B7AF5}"/>
    <dgm:cxn modelId="{41BF713A-657F-48A0-A3F8-E53DABFA364D}" type="presOf" srcId="{DAED4EC4-64E2-4658-A9F3-3258867B4623}" destId="{F89E055D-B86A-4BE0-81FC-1A6C7F0160F9}" srcOrd="0" destOrd="0" presId="urn:microsoft.com/office/officeart/2005/8/layout/default"/>
    <dgm:cxn modelId="{86334F5D-47EB-413C-8F6F-92CE6A1FB905}" srcId="{6BD7C230-2FB0-4C5D-9B64-75EC7ADA7875}" destId="{DF939982-CF2A-41FC-90DA-079223406875}" srcOrd="1" destOrd="0" parTransId="{07CCA4E9-606C-4BE3-92ED-7472321408FF}" sibTransId="{E9A74C53-1D2E-46F6-AFCD-BA1249C919E7}"/>
    <dgm:cxn modelId="{7AB11241-22EB-45EC-9D0B-AB165770CCFC}" srcId="{6BD7C230-2FB0-4C5D-9B64-75EC7ADA7875}" destId="{12D8B1F7-0B10-4B26-A513-6D5B31021E34}" srcOrd="9" destOrd="0" parTransId="{1FB8FE7B-1ABB-470C-BD46-DB1977E0E91F}" sibTransId="{D6DEB591-6F73-4D74-81E4-14AB1218C8C3}"/>
    <dgm:cxn modelId="{3F7DFC46-F70A-4EFA-9765-37BF6C883997}" type="presOf" srcId="{E4C6E70C-F7A7-47ED-BF84-02E961CFD8C1}" destId="{4B51D567-49FE-4F52-B9EE-BFD93A46FB38}" srcOrd="0" destOrd="0" presId="urn:microsoft.com/office/officeart/2005/8/layout/default"/>
    <dgm:cxn modelId="{3504E86B-0E9A-4820-8CBB-3B9ED6B12223}" type="presOf" srcId="{48773C8C-461C-425F-B222-2B24CDEF81E1}" destId="{20071915-2949-4860-9461-0A16C5FA630C}" srcOrd="0" destOrd="0" presId="urn:microsoft.com/office/officeart/2005/8/layout/default"/>
    <dgm:cxn modelId="{85BD8E4C-EFBC-473B-AD45-93A0E908DEEC}" type="presOf" srcId="{162E35FE-ADE8-438C-88EE-666DC7A0F0D9}" destId="{02F62774-E687-45C0-9779-E5C016894B04}" srcOrd="0" destOrd="0" presId="urn:microsoft.com/office/officeart/2005/8/layout/default"/>
    <dgm:cxn modelId="{A6D1156D-EC86-4FA3-A92D-C6BFEBE7EA2C}" srcId="{6BD7C230-2FB0-4C5D-9B64-75EC7ADA7875}" destId="{162E35FE-ADE8-438C-88EE-666DC7A0F0D9}" srcOrd="0" destOrd="0" parTransId="{EF2B8EE9-B628-45D7-AFEA-45CCB93BF7F1}" sibTransId="{4039AD9C-6730-4A6F-A166-4AF7AA82BB5F}"/>
    <dgm:cxn modelId="{AF339B7E-9051-439F-838D-762FCABA243A}" srcId="{6BD7C230-2FB0-4C5D-9B64-75EC7ADA7875}" destId="{BE2A3926-BA55-468C-9853-711A9E8B693D}" srcOrd="7" destOrd="0" parTransId="{2915FD53-4D9A-483B-A992-7266B42E7C14}" sibTransId="{8FB58ABC-BC6B-4C2F-BEA8-9F33709CBFC9}"/>
    <dgm:cxn modelId="{A44AB97E-950B-42C9-B296-1752CCBE55B1}" type="presOf" srcId="{8FE1E3A6-A120-413B-BA5C-3B051BC797D2}" destId="{3AB33FDC-95A3-44DE-986B-10A6987A74E5}" srcOrd="0" destOrd="0" presId="urn:microsoft.com/office/officeart/2005/8/layout/default"/>
    <dgm:cxn modelId="{E77ED386-39A1-452A-826C-F571B903F569}" srcId="{6BD7C230-2FB0-4C5D-9B64-75EC7ADA7875}" destId="{DAED4EC4-64E2-4658-A9F3-3258867B4623}" srcOrd="4" destOrd="0" parTransId="{DEE540FA-89FD-4886-904D-FDED3FD0130C}" sibTransId="{475449DF-635D-4ECF-8751-5AC433A7A623}"/>
    <dgm:cxn modelId="{3936D792-9DD5-4838-A48C-DFB3EC955797}" srcId="{6BD7C230-2FB0-4C5D-9B64-75EC7ADA7875}" destId="{E4C6E70C-F7A7-47ED-BF84-02E961CFD8C1}" srcOrd="6" destOrd="0" parTransId="{A240D2EE-87B0-4D79-876D-9E6A47567A6A}" sibTransId="{837C66CB-D323-463E-AD1B-376AEC32A5DA}"/>
    <dgm:cxn modelId="{18CE6F9E-CA7F-4350-8CE4-931BCA8B406E}" srcId="{6BD7C230-2FB0-4C5D-9B64-75EC7ADA7875}" destId="{48773C8C-461C-425F-B222-2B24CDEF81E1}" srcOrd="2" destOrd="0" parTransId="{AE8CD16E-9F21-4902-88A1-2CCE8718CE58}" sibTransId="{D8ECF117-78F4-4B7B-B956-1200E844406A}"/>
    <dgm:cxn modelId="{B0ED02A8-14A5-4982-B0C9-F7F8678975F3}" type="presOf" srcId="{D6F37A60-A843-4ED6-8CAE-5BA86E00527C}" destId="{B7B55D2F-2BC6-45BE-BF57-0A9AA97429AF}" srcOrd="0" destOrd="0" presId="urn:microsoft.com/office/officeart/2005/8/layout/default"/>
    <dgm:cxn modelId="{67B739AB-1DEA-4B6A-AE40-321C6070D095}" type="presOf" srcId="{12D8B1F7-0B10-4B26-A513-6D5B31021E34}" destId="{D9EB31BE-DB2A-4F70-951A-D03895AB4F27}" srcOrd="0" destOrd="0" presId="urn:microsoft.com/office/officeart/2005/8/layout/default"/>
    <dgm:cxn modelId="{61C2DDD7-D555-48F4-BCD4-E0E5B8687D1E}" type="presOf" srcId="{ED5CE8E8-A291-4036-9B9D-FC18BABEF04F}" destId="{AA80E203-BBAA-412B-A176-5A08844CE893}" srcOrd="0" destOrd="0" presId="urn:microsoft.com/office/officeart/2005/8/layout/default"/>
    <dgm:cxn modelId="{B51EC6DA-3776-4920-85FC-0B7F0E46FD61}" type="presOf" srcId="{BE2A3926-BA55-468C-9853-711A9E8B693D}" destId="{3B2617F0-C91C-4DD3-9532-44E2621CA77B}" srcOrd="0" destOrd="0" presId="urn:microsoft.com/office/officeart/2005/8/layout/default"/>
    <dgm:cxn modelId="{CBC0DADF-26FA-40BB-A46A-CCF6EF5BFF51}" type="presOf" srcId="{6BD7C230-2FB0-4C5D-9B64-75EC7ADA7875}" destId="{FC72D9A5-6446-47B5-A198-4C2843F617AF}" srcOrd="0" destOrd="0" presId="urn:microsoft.com/office/officeart/2005/8/layout/default"/>
    <dgm:cxn modelId="{47E4E2F2-CA1B-4BDD-9968-FD28CC061B8B}" srcId="{6BD7C230-2FB0-4C5D-9B64-75EC7ADA7875}" destId="{D6F37A60-A843-4ED6-8CAE-5BA86E00527C}" srcOrd="8" destOrd="0" parTransId="{9F341BFB-55D4-4394-BBE0-409F241E322B}" sibTransId="{74AE9E47-8DC0-45AA-B253-8E6CE3566155}"/>
    <dgm:cxn modelId="{763AF73C-312A-43D5-BF71-051D23383299}" type="presParOf" srcId="{FC72D9A5-6446-47B5-A198-4C2843F617AF}" destId="{02F62774-E687-45C0-9779-E5C016894B04}" srcOrd="0" destOrd="0" presId="urn:microsoft.com/office/officeart/2005/8/layout/default"/>
    <dgm:cxn modelId="{04A5F41D-BA84-411A-94E3-9F29A2CD1DAD}" type="presParOf" srcId="{FC72D9A5-6446-47B5-A198-4C2843F617AF}" destId="{72381BD8-8E10-4B85-834D-CEF38BBEBF71}" srcOrd="1" destOrd="0" presId="urn:microsoft.com/office/officeart/2005/8/layout/default"/>
    <dgm:cxn modelId="{BBA6E70F-21E3-47EB-9CEF-566B95C95128}" type="presParOf" srcId="{FC72D9A5-6446-47B5-A198-4C2843F617AF}" destId="{3542B24C-B339-4D29-9C85-F5E48B081A35}" srcOrd="2" destOrd="0" presId="urn:microsoft.com/office/officeart/2005/8/layout/default"/>
    <dgm:cxn modelId="{73550515-1C42-4F49-96BC-AAFE0A9EE7DA}" type="presParOf" srcId="{FC72D9A5-6446-47B5-A198-4C2843F617AF}" destId="{8E947AE8-8F31-45AB-AF46-9A097ED64204}" srcOrd="3" destOrd="0" presId="urn:microsoft.com/office/officeart/2005/8/layout/default"/>
    <dgm:cxn modelId="{EB48A8B1-351B-4BAF-9748-EA992E00B57C}" type="presParOf" srcId="{FC72D9A5-6446-47B5-A198-4C2843F617AF}" destId="{20071915-2949-4860-9461-0A16C5FA630C}" srcOrd="4" destOrd="0" presId="urn:microsoft.com/office/officeart/2005/8/layout/default"/>
    <dgm:cxn modelId="{4C547435-28E3-483B-9517-38C7811061DC}" type="presParOf" srcId="{FC72D9A5-6446-47B5-A198-4C2843F617AF}" destId="{EF560EBA-9516-4EAD-815B-762742D144E0}" srcOrd="5" destOrd="0" presId="urn:microsoft.com/office/officeart/2005/8/layout/default"/>
    <dgm:cxn modelId="{9D968AC6-8FCB-4114-AE6B-D020095892D1}" type="presParOf" srcId="{FC72D9A5-6446-47B5-A198-4C2843F617AF}" destId="{3AB33FDC-95A3-44DE-986B-10A6987A74E5}" srcOrd="6" destOrd="0" presId="urn:microsoft.com/office/officeart/2005/8/layout/default"/>
    <dgm:cxn modelId="{12AA1548-82AA-49D2-AF23-81B0F21AF6E6}" type="presParOf" srcId="{FC72D9A5-6446-47B5-A198-4C2843F617AF}" destId="{3B880697-DD4C-49D0-9E0A-1B67636C3CEE}" srcOrd="7" destOrd="0" presId="urn:microsoft.com/office/officeart/2005/8/layout/default"/>
    <dgm:cxn modelId="{6D1F928C-F4FE-4B43-8A68-FBA9AC6B8A8F}" type="presParOf" srcId="{FC72D9A5-6446-47B5-A198-4C2843F617AF}" destId="{F89E055D-B86A-4BE0-81FC-1A6C7F0160F9}" srcOrd="8" destOrd="0" presId="urn:microsoft.com/office/officeart/2005/8/layout/default"/>
    <dgm:cxn modelId="{4851BF6A-AD31-432E-B4E5-648A53D09765}" type="presParOf" srcId="{FC72D9A5-6446-47B5-A198-4C2843F617AF}" destId="{9066B1A3-168F-4827-B1D5-643366456EE6}" srcOrd="9" destOrd="0" presId="urn:microsoft.com/office/officeart/2005/8/layout/default"/>
    <dgm:cxn modelId="{5F842F41-9B9C-48A1-B1F1-0E0A85F36351}" type="presParOf" srcId="{FC72D9A5-6446-47B5-A198-4C2843F617AF}" destId="{AA80E203-BBAA-412B-A176-5A08844CE893}" srcOrd="10" destOrd="0" presId="urn:microsoft.com/office/officeart/2005/8/layout/default"/>
    <dgm:cxn modelId="{AA4EB148-E21F-4FFC-94A2-A6AD3FC83FB3}" type="presParOf" srcId="{FC72D9A5-6446-47B5-A198-4C2843F617AF}" destId="{74B4E6E8-11F7-44E2-8326-CE3DC2EDF611}" srcOrd="11" destOrd="0" presId="urn:microsoft.com/office/officeart/2005/8/layout/default"/>
    <dgm:cxn modelId="{BD4B051D-A9E8-4F7F-A271-5A342254499F}" type="presParOf" srcId="{FC72D9A5-6446-47B5-A198-4C2843F617AF}" destId="{4B51D567-49FE-4F52-B9EE-BFD93A46FB38}" srcOrd="12" destOrd="0" presId="urn:microsoft.com/office/officeart/2005/8/layout/default"/>
    <dgm:cxn modelId="{7ACC3798-4DFA-430E-A5A6-864C677E37DE}" type="presParOf" srcId="{FC72D9A5-6446-47B5-A198-4C2843F617AF}" destId="{EB462E72-812C-4BF7-8768-39C314E5FAF3}" srcOrd="13" destOrd="0" presId="urn:microsoft.com/office/officeart/2005/8/layout/default"/>
    <dgm:cxn modelId="{51159ADF-48BE-4A02-8F6D-08926EDEE811}" type="presParOf" srcId="{FC72D9A5-6446-47B5-A198-4C2843F617AF}" destId="{3B2617F0-C91C-4DD3-9532-44E2621CA77B}" srcOrd="14" destOrd="0" presId="urn:microsoft.com/office/officeart/2005/8/layout/default"/>
    <dgm:cxn modelId="{79D05473-3B34-4306-AB06-5A3A7EF55E5B}" type="presParOf" srcId="{FC72D9A5-6446-47B5-A198-4C2843F617AF}" destId="{919B95C6-BE4D-4666-B84B-9901C62DF8B6}" srcOrd="15" destOrd="0" presId="urn:microsoft.com/office/officeart/2005/8/layout/default"/>
    <dgm:cxn modelId="{747D17A2-9FCB-4FBE-9927-068CE38C4439}" type="presParOf" srcId="{FC72D9A5-6446-47B5-A198-4C2843F617AF}" destId="{B7B55D2F-2BC6-45BE-BF57-0A9AA97429AF}" srcOrd="16" destOrd="0" presId="urn:microsoft.com/office/officeart/2005/8/layout/default"/>
    <dgm:cxn modelId="{8156DDD3-5C7D-462A-A0AC-E4FE8CE71216}" type="presParOf" srcId="{FC72D9A5-6446-47B5-A198-4C2843F617AF}" destId="{0AB13240-0C71-4DC8-83EA-0C4451AE5D11}" srcOrd="17" destOrd="0" presId="urn:microsoft.com/office/officeart/2005/8/layout/default"/>
    <dgm:cxn modelId="{B3F1ED98-887A-498D-8FA8-D8C6DA903518}" type="presParOf" srcId="{FC72D9A5-6446-47B5-A198-4C2843F617AF}" destId="{D9EB31BE-DB2A-4F70-951A-D03895AB4F27}"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DE4118-7CCF-461B-AB4F-BF0C38C63E22}"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7D69894E-A280-4D17-8E79-B107A62ABA63}">
      <dgm:prSet/>
      <dgm:spPr/>
      <dgm:t>
        <a:bodyPr/>
        <a:lstStyle/>
        <a:p>
          <a:r>
            <a:rPr lang="en-US" b="1"/>
            <a:t>Class Imbalance</a:t>
          </a:r>
          <a:endParaRPr lang="en-US"/>
        </a:p>
      </dgm:t>
    </dgm:pt>
    <dgm:pt modelId="{CC192659-5998-4B1C-808F-B29E5E2E1BEE}" type="parTrans" cxnId="{7337EDD2-B434-4B5B-8839-50D31AACA74B}">
      <dgm:prSet/>
      <dgm:spPr/>
      <dgm:t>
        <a:bodyPr/>
        <a:lstStyle/>
        <a:p>
          <a:endParaRPr lang="en-US"/>
        </a:p>
      </dgm:t>
    </dgm:pt>
    <dgm:pt modelId="{2EA5BCD2-E6ED-43E2-B968-7B8672A0ED34}" type="sibTrans" cxnId="{7337EDD2-B434-4B5B-8839-50D31AACA74B}">
      <dgm:prSet/>
      <dgm:spPr/>
      <dgm:t>
        <a:bodyPr/>
        <a:lstStyle/>
        <a:p>
          <a:endParaRPr lang="en-US"/>
        </a:p>
      </dgm:t>
    </dgm:pt>
    <dgm:pt modelId="{285F3E02-5FBD-428D-99C5-91B4D39FECCE}">
      <dgm:prSet/>
      <dgm:spPr/>
      <dgm:t>
        <a:bodyPr/>
        <a:lstStyle/>
        <a:p>
          <a:r>
            <a:rPr lang="en-US"/>
            <a:t>Non-Fraud: 99.87%  |  Fraud: 0.13% — Highly imbalanced dataset</a:t>
          </a:r>
        </a:p>
      </dgm:t>
    </dgm:pt>
    <dgm:pt modelId="{A738A925-00C5-4740-9330-85E1318FC10B}" type="parTrans" cxnId="{B8218008-1389-4EA4-88F0-B5722416B229}">
      <dgm:prSet/>
      <dgm:spPr/>
      <dgm:t>
        <a:bodyPr/>
        <a:lstStyle/>
        <a:p>
          <a:endParaRPr lang="en-US"/>
        </a:p>
      </dgm:t>
    </dgm:pt>
    <dgm:pt modelId="{6905032A-7A93-4308-85E3-D5D63F0EA720}" type="sibTrans" cxnId="{B8218008-1389-4EA4-88F0-B5722416B229}">
      <dgm:prSet/>
      <dgm:spPr/>
      <dgm:t>
        <a:bodyPr/>
        <a:lstStyle/>
        <a:p>
          <a:endParaRPr lang="en-US"/>
        </a:p>
      </dgm:t>
    </dgm:pt>
    <dgm:pt modelId="{018BC4EF-A821-49A2-8B64-0A01F3AF7180}">
      <dgm:prSet/>
      <dgm:spPr/>
      <dgm:t>
        <a:bodyPr/>
        <a:lstStyle/>
        <a:p>
          <a:r>
            <a:rPr lang="en-US" dirty="0"/>
            <a:t>A naive model predicting all Non-Fraud achieves 99.87% accuracy but catches zero fraud</a:t>
          </a:r>
        </a:p>
      </dgm:t>
    </dgm:pt>
    <dgm:pt modelId="{F4EDE563-4DB1-419E-8821-B61AC967B6C2}" type="parTrans" cxnId="{34527D38-1739-443D-A1FC-FE7A51C54273}">
      <dgm:prSet/>
      <dgm:spPr/>
      <dgm:t>
        <a:bodyPr/>
        <a:lstStyle/>
        <a:p>
          <a:endParaRPr lang="en-US"/>
        </a:p>
      </dgm:t>
    </dgm:pt>
    <dgm:pt modelId="{C63BF8D1-9F38-4925-957A-6F055081B696}" type="sibTrans" cxnId="{34527D38-1739-443D-A1FC-FE7A51C54273}">
      <dgm:prSet/>
      <dgm:spPr/>
      <dgm:t>
        <a:bodyPr/>
        <a:lstStyle/>
        <a:p>
          <a:endParaRPr lang="en-US"/>
        </a:p>
      </dgm:t>
    </dgm:pt>
    <dgm:pt modelId="{82758F3C-8660-447E-B2A7-7568F040684A}">
      <dgm:prSet/>
      <dgm:spPr/>
      <dgm:t>
        <a:bodyPr/>
        <a:lstStyle/>
        <a:p>
          <a:r>
            <a:rPr lang="en-US" b="1"/>
            <a:t>Fraud by Transaction Type</a:t>
          </a:r>
          <a:endParaRPr lang="en-US"/>
        </a:p>
      </dgm:t>
    </dgm:pt>
    <dgm:pt modelId="{46C4F46C-3ABC-4AB6-B288-F794308AB496}" type="parTrans" cxnId="{2859C7D2-F457-4711-99A6-0708045A1E78}">
      <dgm:prSet/>
      <dgm:spPr/>
      <dgm:t>
        <a:bodyPr/>
        <a:lstStyle/>
        <a:p>
          <a:endParaRPr lang="en-US"/>
        </a:p>
      </dgm:t>
    </dgm:pt>
    <dgm:pt modelId="{BAB3A1FA-8D22-4138-B47D-4D2B7A3FD449}" type="sibTrans" cxnId="{2859C7D2-F457-4711-99A6-0708045A1E78}">
      <dgm:prSet/>
      <dgm:spPr/>
      <dgm:t>
        <a:bodyPr/>
        <a:lstStyle/>
        <a:p>
          <a:endParaRPr lang="en-US"/>
        </a:p>
      </dgm:t>
    </dgm:pt>
    <dgm:pt modelId="{B34469F2-9B57-419C-8D3B-743C3A2C6E1C}">
      <dgm:prSet/>
      <dgm:spPr/>
      <dgm:t>
        <a:bodyPr/>
        <a:lstStyle/>
        <a:p>
          <a:r>
            <a:rPr lang="en-US"/>
            <a:t>Fraud occurs ONLY in TRANSFER and CASH_OUT transactions</a:t>
          </a:r>
        </a:p>
      </dgm:t>
    </dgm:pt>
    <dgm:pt modelId="{D5075588-31B8-4516-9076-617FFFDB4B39}" type="parTrans" cxnId="{4CB1C787-D025-4DB3-A104-806E1C9B667F}">
      <dgm:prSet/>
      <dgm:spPr/>
      <dgm:t>
        <a:bodyPr/>
        <a:lstStyle/>
        <a:p>
          <a:endParaRPr lang="en-US"/>
        </a:p>
      </dgm:t>
    </dgm:pt>
    <dgm:pt modelId="{4BCF415D-AABE-42C0-8301-1B79E0DFEEA9}" type="sibTrans" cxnId="{4CB1C787-D025-4DB3-A104-806E1C9B667F}">
      <dgm:prSet/>
      <dgm:spPr/>
      <dgm:t>
        <a:bodyPr/>
        <a:lstStyle/>
        <a:p>
          <a:endParaRPr lang="en-US"/>
        </a:p>
      </dgm:t>
    </dgm:pt>
    <dgm:pt modelId="{0D3F8B02-933E-45B4-AC1E-6650AD9A2328}">
      <dgm:prSet/>
      <dgm:spPr/>
      <dgm:t>
        <a:bodyPr/>
        <a:lstStyle/>
        <a:p>
          <a:r>
            <a:rPr lang="en-US"/>
            <a:t>PAYMENT, DEBIT, CASH_IN transactions show zero fraudulent activity</a:t>
          </a:r>
        </a:p>
      </dgm:t>
    </dgm:pt>
    <dgm:pt modelId="{15EFDE9A-8090-40B5-BA97-82D70BBF0100}" type="parTrans" cxnId="{976978E6-65D7-40BA-AA80-9B9F3EDFC8DE}">
      <dgm:prSet/>
      <dgm:spPr/>
      <dgm:t>
        <a:bodyPr/>
        <a:lstStyle/>
        <a:p>
          <a:endParaRPr lang="en-US"/>
        </a:p>
      </dgm:t>
    </dgm:pt>
    <dgm:pt modelId="{7C3C6CDE-5D7F-4649-8594-E19C8E11B8B5}" type="sibTrans" cxnId="{976978E6-65D7-40BA-AA80-9B9F3EDFC8DE}">
      <dgm:prSet/>
      <dgm:spPr/>
      <dgm:t>
        <a:bodyPr/>
        <a:lstStyle/>
        <a:p>
          <a:endParaRPr lang="en-US"/>
        </a:p>
      </dgm:t>
    </dgm:pt>
    <dgm:pt modelId="{BE04E220-471F-4E5D-A437-89267AA8AB4C}">
      <dgm:prSet/>
      <dgm:spPr/>
      <dgm:t>
        <a:bodyPr/>
        <a:lstStyle/>
        <a:p>
          <a:r>
            <a:rPr lang="en-US" b="1"/>
            <a:t>Amount Distribution Insight</a:t>
          </a:r>
          <a:endParaRPr lang="en-US"/>
        </a:p>
      </dgm:t>
    </dgm:pt>
    <dgm:pt modelId="{A7AFFCF9-01FB-4E17-B2F6-090575D0BC0B}" type="parTrans" cxnId="{0421196D-75FF-4573-86CC-DE3D4A6D45D3}">
      <dgm:prSet/>
      <dgm:spPr/>
      <dgm:t>
        <a:bodyPr/>
        <a:lstStyle/>
        <a:p>
          <a:endParaRPr lang="en-US"/>
        </a:p>
      </dgm:t>
    </dgm:pt>
    <dgm:pt modelId="{86060807-B914-4FB8-AA1E-7B32538E2CA1}" type="sibTrans" cxnId="{0421196D-75FF-4573-86CC-DE3D4A6D45D3}">
      <dgm:prSet/>
      <dgm:spPr/>
      <dgm:t>
        <a:bodyPr/>
        <a:lstStyle/>
        <a:p>
          <a:endParaRPr lang="en-US"/>
        </a:p>
      </dgm:t>
    </dgm:pt>
    <dgm:pt modelId="{D7F47CCC-1383-4BA1-936C-112373BE9A2F}">
      <dgm:prSet/>
      <dgm:spPr/>
      <dgm:t>
        <a:bodyPr/>
        <a:lstStyle/>
        <a:p>
          <a:r>
            <a:rPr lang="en-US"/>
            <a:t>Fraudulent transactions tend to involve larger amounts than legitimate ones</a:t>
          </a:r>
        </a:p>
      </dgm:t>
    </dgm:pt>
    <dgm:pt modelId="{CEB35DA1-18B8-4F77-B924-39CF4179AB47}" type="parTrans" cxnId="{FDE7DDAC-DD12-4DFF-AB5D-15EBB129EDFF}">
      <dgm:prSet/>
      <dgm:spPr/>
      <dgm:t>
        <a:bodyPr/>
        <a:lstStyle/>
        <a:p>
          <a:endParaRPr lang="en-US"/>
        </a:p>
      </dgm:t>
    </dgm:pt>
    <dgm:pt modelId="{D83CA895-4865-4ECD-8D4D-E4637313026A}" type="sibTrans" cxnId="{FDE7DDAC-DD12-4DFF-AB5D-15EBB129EDFF}">
      <dgm:prSet/>
      <dgm:spPr/>
      <dgm:t>
        <a:bodyPr/>
        <a:lstStyle/>
        <a:p>
          <a:endParaRPr lang="en-US"/>
        </a:p>
      </dgm:t>
    </dgm:pt>
    <dgm:pt modelId="{FCB563FA-1714-4165-AD17-47615B77778D}">
      <dgm:prSet/>
      <dgm:spPr/>
      <dgm:t>
        <a:bodyPr/>
        <a:lstStyle/>
        <a:p>
          <a:r>
            <a:rPr lang="en-US"/>
            <a:t>Balance discrepancies (errorOrig, errorDest) are strong fraud signals</a:t>
          </a:r>
        </a:p>
      </dgm:t>
    </dgm:pt>
    <dgm:pt modelId="{E0AA83D0-2918-4001-A915-ACDD1D700DB6}" type="parTrans" cxnId="{84977D5E-4B49-4D9C-9EE2-BC6EA158A4D3}">
      <dgm:prSet/>
      <dgm:spPr/>
      <dgm:t>
        <a:bodyPr/>
        <a:lstStyle/>
        <a:p>
          <a:endParaRPr lang="en-US"/>
        </a:p>
      </dgm:t>
    </dgm:pt>
    <dgm:pt modelId="{2EE689C2-7101-4983-807A-E3CAFE40BDB6}" type="sibTrans" cxnId="{84977D5E-4B49-4D9C-9EE2-BC6EA158A4D3}">
      <dgm:prSet/>
      <dgm:spPr/>
      <dgm:t>
        <a:bodyPr/>
        <a:lstStyle/>
        <a:p>
          <a:endParaRPr lang="en-US"/>
        </a:p>
      </dgm:t>
    </dgm:pt>
    <dgm:pt modelId="{E07DCE1A-A79A-4E68-BC8A-EDEBFAA08EB5}" type="pres">
      <dgm:prSet presAssocID="{6ADE4118-7CCF-461B-AB4F-BF0C38C63E22}" presName="root" presStyleCnt="0">
        <dgm:presLayoutVars>
          <dgm:dir/>
          <dgm:resizeHandles val="exact"/>
        </dgm:presLayoutVars>
      </dgm:prSet>
      <dgm:spPr/>
    </dgm:pt>
    <dgm:pt modelId="{92530676-1FC9-4EE0-A7E9-5464D8EDE303}" type="pres">
      <dgm:prSet presAssocID="{7D69894E-A280-4D17-8E79-B107A62ABA63}" presName="compNode" presStyleCnt="0"/>
      <dgm:spPr/>
    </dgm:pt>
    <dgm:pt modelId="{D4468964-DDEC-408B-A8E9-F0737253CE1C}" type="pres">
      <dgm:prSet presAssocID="{7D69894E-A280-4D17-8E79-B107A62ABA63}" presName="bgRect" presStyleLbl="bgShp" presStyleIdx="0" presStyleCnt="3"/>
      <dgm:spPr/>
    </dgm:pt>
    <dgm:pt modelId="{AF556A16-D2D2-461B-A49A-226E3AF2693F}" type="pres">
      <dgm:prSet presAssocID="{7D69894E-A280-4D17-8E79-B107A62ABA6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3C31EC98-2790-40AB-B1C7-3447703AAE8C}" type="pres">
      <dgm:prSet presAssocID="{7D69894E-A280-4D17-8E79-B107A62ABA63}" presName="spaceRect" presStyleCnt="0"/>
      <dgm:spPr/>
    </dgm:pt>
    <dgm:pt modelId="{DCED5B9D-72C9-441A-8E2B-6BC82929EA43}" type="pres">
      <dgm:prSet presAssocID="{7D69894E-A280-4D17-8E79-B107A62ABA63}" presName="parTx" presStyleLbl="revTx" presStyleIdx="0" presStyleCnt="6">
        <dgm:presLayoutVars>
          <dgm:chMax val="0"/>
          <dgm:chPref val="0"/>
        </dgm:presLayoutVars>
      </dgm:prSet>
      <dgm:spPr/>
    </dgm:pt>
    <dgm:pt modelId="{9E8D5566-B7B2-4ED2-B65A-1679A69575C1}" type="pres">
      <dgm:prSet presAssocID="{7D69894E-A280-4D17-8E79-B107A62ABA63}" presName="desTx" presStyleLbl="revTx" presStyleIdx="1" presStyleCnt="6">
        <dgm:presLayoutVars/>
      </dgm:prSet>
      <dgm:spPr/>
    </dgm:pt>
    <dgm:pt modelId="{0C0ACACD-210E-4956-BCCB-629FF3804840}" type="pres">
      <dgm:prSet presAssocID="{2EA5BCD2-E6ED-43E2-B968-7B8672A0ED34}" presName="sibTrans" presStyleCnt="0"/>
      <dgm:spPr/>
    </dgm:pt>
    <dgm:pt modelId="{3A146646-81E8-4553-9852-AA612E43098B}" type="pres">
      <dgm:prSet presAssocID="{82758F3C-8660-447E-B2A7-7568F040684A}" presName="compNode" presStyleCnt="0"/>
      <dgm:spPr/>
    </dgm:pt>
    <dgm:pt modelId="{B586DB4B-698D-4871-8FD1-B93219744205}" type="pres">
      <dgm:prSet presAssocID="{82758F3C-8660-447E-B2A7-7568F040684A}" presName="bgRect" presStyleLbl="bgShp" presStyleIdx="1" presStyleCnt="3"/>
      <dgm:spPr/>
    </dgm:pt>
    <dgm:pt modelId="{A97063A3-8412-4555-A40E-A32ECBB5DB9C}" type="pres">
      <dgm:prSet presAssocID="{82758F3C-8660-447E-B2A7-7568F040684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ber"/>
        </a:ext>
      </dgm:extLst>
    </dgm:pt>
    <dgm:pt modelId="{4D83E89E-81E2-44E1-BB47-613776C08662}" type="pres">
      <dgm:prSet presAssocID="{82758F3C-8660-447E-B2A7-7568F040684A}" presName="spaceRect" presStyleCnt="0"/>
      <dgm:spPr/>
    </dgm:pt>
    <dgm:pt modelId="{73B35C84-F07C-4700-86BA-BE6B7AF68426}" type="pres">
      <dgm:prSet presAssocID="{82758F3C-8660-447E-B2A7-7568F040684A}" presName="parTx" presStyleLbl="revTx" presStyleIdx="2" presStyleCnt="6">
        <dgm:presLayoutVars>
          <dgm:chMax val="0"/>
          <dgm:chPref val="0"/>
        </dgm:presLayoutVars>
      </dgm:prSet>
      <dgm:spPr/>
    </dgm:pt>
    <dgm:pt modelId="{CBBF807E-B47F-43A8-8E84-3415E118AF25}" type="pres">
      <dgm:prSet presAssocID="{82758F3C-8660-447E-B2A7-7568F040684A}" presName="desTx" presStyleLbl="revTx" presStyleIdx="3" presStyleCnt="6">
        <dgm:presLayoutVars/>
      </dgm:prSet>
      <dgm:spPr/>
    </dgm:pt>
    <dgm:pt modelId="{1A0BE904-18CA-41B6-B329-1C4D1D3CADD9}" type="pres">
      <dgm:prSet presAssocID="{BAB3A1FA-8D22-4138-B47D-4D2B7A3FD449}" presName="sibTrans" presStyleCnt="0"/>
      <dgm:spPr/>
    </dgm:pt>
    <dgm:pt modelId="{7C215978-ECA3-48C2-B244-8379A4E6227C}" type="pres">
      <dgm:prSet presAssocID="{BE04E220-471F-4E5D-A437-89267AA8AB4C}" presName="compNode" presStyleCnt="0"/>
      <dgm:spPr/>
    </dgm:pt>
    <dgm:pt modelId="{53942CD9-9F08-4BA0-8178-C0D005AAF54C}" type="pres">
      <dgm:prSet presAssocID="{BE04E220-471F-4E5D-A437-89267AA8AB4C}" presName="bgRect" presStyleLbl="bgShp" presStyleIdx="2" presStyleCnt="3"/>
      <dgm:spPr/>
    </dgm:pt>
    <dgm:pt modelId="{17890674-5AE6-42DE-8A30-0B912B411BA2}" type="pres">
      <dgm:prSet presAssocID="{BE04E220-471F-4E5D-A437-89267AA8AB4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redit card"/>
        </a:ext>
      </dgm:extLst>
    </dgm:pt>
    <dgm:pt modelId="{AB5F1D2A-9F9D-46A2-9D18-6F665BDAA4CE}" type="pres">
      <dgm:prSet presAssocID="{BE04E220-471F-4E5D-A437-89267AA8AB4C}" presName="spaceRect" presStyleCnt="0"/>
      <dgm:spPr/>
    </dgm:pt>
    <dgm:pt modelId="{90543B34-C4DA-4CF1-8AD3-FE575C6FB18D}" type="pres">
      <dgm:prSet presAssocID="{BE04E220-471F-4E5D-A437-89267AA8AB4C}" presName="parTx" presStyleLbl="revTx" presStyleIdx="4" presStyleCnt="6">
        <dgm:presLayoutVars>
          <dgm:chMax val="0"/>
          <dgm:chPref val="0"/>
        </dgm:presLayoutVars>
      </dgm:prSet>
      <dgm:spPr/>
    </dgm:pt>
    <dgm:pt modelId="{C7DB6048-0967-4FD6-AF72-685B7C2A6773}" type="pres">
      <dgm:prSet presAssocID="{BE04E220-471F-4E5D-A437-89267AA8AB4C}" presName="desTx" presStyleLbl="revTx" presStyleIdx="5" presStyleCnt="6">
        <dgm:presLayoutVars/>
      </dgm:prSet>
      <dgm:spPr/>
    </dgm:pt>
  </dgm:ptLst>
  <dgm:cxnLst>
    <dgm:cxn modelId="{47162108-4EC4-4ABF-BE90-BE54E7280206}" type="presOf" srcId="{018BC4EF-A821-49A2-8B64-0A01F3AF7180}" destId="{9E8D5566-B7B2-4ED2-B65A-1679A69575C1}" srcOrd="0" destOrd="1" presId="urn:microsoft.com/office/officeart/2018/2/layout/IconVerticalSolidList"/>
    <dgm:cxn modelId="{B8218008-1389-4EA4-88F0-B5722416B229}" srcId="{7D69894E-A280-4D17-8E79-B107A62ABA63}" destId="{285F3E02-5FBD-428D-99C5-91B4D39FECCE}" srcOrd="0" destOrd="0" parTransId="{A738A925-00C5-4740-9330-85E1318FC10B}" sibTransId="{6905032A-7A93-4308-85E3-D5D63F0EA720}"/>
    <dgm:cxn modelId="{4AA61328-6305-4747-A5DF-C7B3B3FDE973}" type="presOf" srcId="{D7F47CCC-1383-4BA1-936C-112373BE9A2F}" destId="{C7DB6048-0967-4FD6-AF72-685B7C2A6773}" srcOrd="0" destOrd="0" presId="urn:microsoft.com/office/officeart/2018/2/layout/IconVerticalSolidList"/>
    <dgm:cxn modelId="{14816832-DF10-4E0F-B40D-F72ED2BB879D}" type="presOf" srcId="{B34469F2-9B57-419C-8D3B-743C3A2C6E1C}" destId="{CBBF807E-B47F-43A8-8E84-3415E118AF25}" srcOrd="0" destOrd="0" presId="urn:microsoft.com/office/officeart/2018/2/layout/IconVerticalSolidList"/>
    <dgm:cxn modelId="{34527D38-1739-443D-A1FC-FE7A51C54273}" srcId="{7D69894E-A280-4D17-8E79-B107A62ABA63}" destId="{018BC4EF-A821-49A2-8B64-0A01F3AF7180}" srcOrd="1" destOrd="0" parTransId="{F4EDE563-4DB1-419E-8821-B61AC967B6C2}" sibTransId="{C63BF8D1-9F38-4925-957A-6F055081B696}"/>
    <dgm:cxn modelId="{84977D5E-4B49-4D9C-9EE2-BC6EA158A4D3}" srcId="{BE04E220-471F-4E5D-A437-89267AA8AB4C}" destId="{FCB563FA-1714-4165-AD17-47615B77778D}" srcOrd="1" destOrd="0" parTransId="{E0AA83D0-2918-4001-A915-ACDD1D700DB6}" sibTransId="{2EE689C2-7101-4983-807A-E3CAFE40BDB6}"/>
    <dgm:cxn modelId="{0421196D-75FF-4573-86CC-DE3D4A6D45D3}" srcId="{6ADE4118-7CCF-461B-AB4F-BF0C38C63E22}" destId="{BE04E220-471F-4E5D-A437-89267AA8AB4C}" srcOrd="2" destOrd="0" parTransId="{A7AFFCF9-01FB-4E17-B2F6-090575D0BC0B}" sibTransId="{86060807-B914-4FB8-AA1E-7B32538E2CA1}"/>
    <dgm:cxn modelId="{F32BA44D-B2A1-4DD4-B7C7-7DB0D97127D0}" type="presOf" srcId="{7D69894E-A280-4D17-8E79-B107A62ABA63}" destId="{DCED5B9D-72C9-441A-8E2B-6BC82929EA43}" srcOrd="0" destOrd="0" presId="urn:microsoft.com/office/officeart/2018/2/layout/IconVerticalSolidList"/>
    <dgm:cxn modelId="{F6897358-57EA-4399-B623-E53028A37460}" type="presOf" srcId="{285F3E02-5FBD-428D-99C5-91B4D39FECCE}" destId="{9E8D5566-B7B2-4ED2-B65A-1679A69575C1}" srcOrd="0" destOrd="0" presId="urn:microsoft.com/office/officeart/2018/2/layout/IconVerticalSolidList"/>
    <dgm:cxn modelId="{4D55927D-8A18-4050-971B-12DDFDEF7575}" type="presOf" srcId="{0D3F8B02-933E-45B4-AC1E-6650AD9A2328}" destId="{CBBF807E-B47F-43A8-8E84-3415E118AF25}" srcOrd="0" destOrd="1" presId="urn:microsoft.com/office/officeart/2018/2/layout/IconVerticalSolidList"/>
    <dgm:cxn modelId="{4CB1C787-D025-4DB3-A104-806E1C9B667F}" srcId="{82758F3C-8660-447E-B2A7-7568F040684A}" destId="{B34469F2-9B57-419C-8D3B-743C3A2C6E1C}" srcOrd="0" destOrd="0" parTransId="{D5075588-31B8-4516-9076-617FFFDB4B39}" sibTransId="{4BCF415D-AABE-42C0-8301-1B79E0DFEEA9}"/>
    <dgm:cxn modelId="{D6ADA096-D0EE-45F4-95B9-FC151A275FBD}" type="presOf" srcId="{BE04E220-471F-4E5D-A437-89267AA8AB4C}" destId="{90543B34-C4DA-4CF1-8AD3-FE575C6FB18D}" srcOrd="0" destOrd="0" presId="urn:microsoft.com/office/officeart/2018/2/layout/IconVerticalSolidList"/>
    <dgm:cxn modelId="{FDE7DDAC-DD12-4DFF-AB5D-15EBB129EDFF}" srcId="{BE04E220-471F-4E5D-A437-89267AA8AB4C}" destId="{D7F47CCC-1383-4BA1-936C-112373BE9A2F}" srcOrd="0" destOrd="0" parTransId="{CEB35DA1-18B8-4F77-B924-39CF4179AB47}" sibTransId="{D83CA895-4865-4ECD-8D4D-E4637313026A}"/>
    <dgm:cxn modelId="{D71A6CBA-0997-42F8-8713-8179110C1F94}" type="presOf" srcId="{FCB563FA-1714-4165-AD17-47615B77778D}" destId="{C7DB6048-0967-4FD6-AF72-685B7C2A6773}" srcOrd="0" destOrd="1" presId="urn:microsoft.com/office/officeart/2018/2/layout/IconVerticalSolidList"/>
    <dgm:cxn modelId="{981D0CC5-08D8-47A1-818B-7CCE4B040C1E}" type="presOf" srcId="{82758F3C-8660-447E-B2A7-7568F040684A}" destId="{73B35C84-F07C-4700-86BA-BE6B7AF68426}" srcOrd="0" destOrd="0" presId="urn:microsoft.com/office/officeart/2018/2/layout/IconVerticalSolidList"/>
    <dgm:cxn modelId="{2859C7D2-F457-4711-99A6-0708045A1E78}" srcId="{6ADE4118-7CCF-461B-AB4F-BF0C38C63E22}" destId="{82758F3C-8660-447E-B2A7-7568F040684A}" srcOrd="1" destOrd="0" parTransId="{46C4F46C-3ABC-4AB6-B288-F794308AB496}" sibTransId="{BAB3A1FA-8D22-4138-B47D-4D2B7A3FD449}"/>
    <dgm:cxn modelId="{7337EDD2-B434-4B5B-8839-50D31AACA74B}" srcId="{6ADE4118-7CCF-461B-AB4F-BF0C38C63E22}" destId="{7D69894E-A280-4D17-8E79-B107A62ABA63}" srcOrd="0" destOrd="0" parTransId="{CC192659-5998-4B1C-808F-B29E5E2E1BEE}" sibTransId="{2EA5BCD2-E6ED-43E2-B968-7B8672A0ED34}"/>
    <dgm:cxn modelId="{976978E6-65D7-40BA-AA80-9B9F3EDFC8DE}" srcId="{82758F3C-8660-447E-B2A7-7568F040684A}" destId="{0D3F8B02-933E-45B4-AC1E-6650AD9A2328}" srcOrd="1" destOrd="0" parTransId="{15EFDE9A-8090-40B5-BA97-82D70BBF0100}" sibTransId="{7C3C6CDE-5D7F-4649-8594-E19C8E11B8B5}"/>
    <dgm:cxn modelId="{889E85FB-4803-4776-A039-20B8920021C4}" type="presOf" srcId="{6ADE4118-7CCF-461B-AB4F-BF0C38C63E22}" destId="{E07DCE1A-A79A-4E68-BC8A-EDEBFAA08EB5}" srcOrd="0" destOrd="0" presId="urn:microsoft.com/office/officeart/2018/2/layout/IconVerticalSolidList"/>
    <dgm:cxn modelId="{F3A79418-9F4C-49C1-89EA-E696DD40A8FF}" type="presParOf" srcId="{E07DCE1A-A79A-4E68-BC8A-EDEBFAA08EB5}" destId="{92530676-1FC9-4EE0-A7E9-5464D8EDE303}" srcOrd="0" destOrd="0" presId="urn:microsoft.com/office/officeart/2018/2/layout/IconVerticalSolidList"/>
    <dgm:cxn modelId="{5E0899CD-730D-4021-B188-0612857050C4}" type="presParOf" srcId="{92530676-1FC9-4EE0-A7E9-5464D8EDE303}" destId="{D4468964-DDEC-408B-A8E9-F0737253CE1C}" srcOrd="0" destOrd="0" presId="urn:microsoft.com/office/officeart/2018/2/layout/IconVerticalSolidList"/>
    <dgm:cxn modelId="{98D1D126-086D-460A-B71F-EA39A82B530C}" type="presParOf" srcId="{92530676-1FC9-4EE0-A7E9-5464D8EDE303}" destId="{AF556A16-D2D2-461B-A49A-226E3AF2693F}" srcOrd="1" destOrd="0" presId="urn:microsoft.com/office/officeart/2018/2/layout/IconVerticalSolidList"/>
    <dgm:cxn modelId="{1A731B4F-531D-4222-9738-C915CB90E2C6}" type="presParOf" srcId="{92530676-1FC9-4EE0-A7E9-5464D8EDE303}" destId="{3C31EC98-2790-40AB-B1C7-3447703AAE8C}" srcOrd="2" destOrd="0" presId="urn:microsoft.com/office/officeart/2018/2/layout/IconVerticalSolidList"/>
    <dgm:cxn modelId="{6D551F30-FE9C-4427-B7FC-A2C19BFE8572}" type="presParOf" srcId="{92530676-1FC9-4EE0-A7E9-5464D8EDE303}" destId="{DCED5B9D-72C9-441A-8E2B-6BC82929EA43}" srcOrd="3" destOrd="0" presId="urn:microsoft.com/office/officeart/2018/2/layout/IconVerticalSolidList"/>
    <dgm:cxn modelId="{19CD8596-3CC0-4771-B695-F57EC97FF41B}" type="presParOf" srcId="{92530676-1FC9-4EE0-A7E9-5464D8EDE303}" destId="{9E8D5566-B7B2-4ED2-B65A-1679A69575C1}" srcOrd="4" destOrd="0" presId="urn:microsoft.com/office/officeart/2018/2/layout/IconVerticalSolidList"/>
    <dgm:cxn modelId="{B677F9D3-7C63-4A61-8336-B64766E20AE0}" type="presParOf" srcId="{E07DCE1A-A79A-4E68-BC8A-EDEBFAA08EB5}" destId="{0C0ACACD-210E-4956-BCCB-629FF3804840}" srcOrd="1" destOrd="0" presId="urn:microsoft.com/office/officeart/2018/2/layout/IconVerticalSolidList"/>
    <dgm:cxn modelId="{3CE13121-A38C-4DC4-BA52-E71472E9E9B3}" type="presParOf" srcId="{E07DCE1A-A79A-4E68-BC8A-EDEBFAA08EB5}" destId="{3A146646-81E8-4553-9852-AA612E43098B}" srcOrd="2" destOrd="0" presId="urn:microsoft.com/office/officeart/2018/2/layout/IconVerticalSolidList"/>
    <dgm:cxn modelId="{2687129F-5A34-4A64-AF50-8759E3A290EF}" type="presParOf" srcId="{3A146646-81E8-4553-9852-AA612E43098B}" destId="{B586DB4B-698D-4871-8FD1-B93219744205}" srcOrd="0" destOrd="0" presId="urn:microsoft.com/office/officeart/2018/2/layout/IconVerticalSolidList"/>
    <dgm:cxn modelId="{0A42C50B-C929-451F-B006-F7594386F56E}" type="presParOf" srcId="{3A146646-81E8-4553-9852-AA612E43098B}" destId="{A97063A3-8412-4555-A40E-A32ECBB5DB9C}" srcOrd="1" destOrd="0" presId="urn:microsoft.com/office/officeart/2018/2/layout/IconVerticalSolidList"/>
    <dgm:cxn modelId="{30A44F38-6B53-4946-8AE4-01DF5616D304}" type="presParOf" srcId="{3A146646-81E8-4553-9852-AA612E43098B}" destId="{4D83E89E-81E2-44E1-BB47-613776C08662}" srcOrd="2" destOrd="0" presId="urn:microsoft.com/office/officeart/2018/2/layout/IconVerticalSolidList"/>
    <dgm:cxn modelId="{02187BDA-B517-4722-A4B0-41B32E411CC9}" type="presParOf" srcId="{3A146646-81E8-4553-9852-AA612E43098B}" destId="{73B35C84-F07C-4700-86BA-BE6B7AF68426}" srcOrd="3" destOrd="0" presId="urn:microsoft.com/office/officeart/2018/2/layout/IconVerticalSolidList"/>
    <dgm:cxn modelId="{2FB45BD9-7E8D-429A-94E4-F5660989B89F}" type="presParOf" srcId="{3A146646-81E8-4553-9852-AA612E43098B}" destId="{CBBF807E-B47F-43A8-8E84-3415E118AF25}" srcOrd="4" destOrd="0" presId="urn:microsoft.com/office/officeart/2018/2/layout/IconVerticalSolidList"/>
    <dgm:cxn modelId="{772838DB-54F2-4DC8-97F9-565C26CAEEB5}" type="presParOf" srcId="{E07DCE1A-A79A-4E68-BC8A-EDEBFAA08EB5}" destId="{1A0BE904-18CA-41B6-B329-1C4D1D3CADD9}" srcOrd="3" destOrd="0" presId="urn:microsoft.com/office/officeart/2018/2/layout/IconVerticalSolidList"/>
    <dgm:cxn modelId="{5EFE93DD-3C02-4293-A94B-8C1164120676}" type="presParOf" srcId="{E07DCE1A-A79A-4E68-BC8A-EDEBFAA08EB5}" destId="{7C215978-ECA3-48C2-B244-8379A4E6227C}" srcOrd="4" destOrd="0" presId="urn:microsoft.com/office/officeart/2018/2/layout/IconVerticalSolidList"/>
    <dgm:cxn modelId="{58109088-F0A5-4292-867D-7F6AD28AFCDA}" type="presParOf" srcId="{7C215978-ECA3-48C2-B244-8379A4E6227C}" destId="{53942CD9-9F08-4BA0-8178-C0D005AAF54C}" srcOrd="0" destOrd="0" presId="urn:microsoft.com/office/officeart/2018/2/layout/IconVerticalSolidList"/>
    <dgm:cxn modelId="{B9D64A73-D98A-41B7-A044-58474C054157}" type="presParOf" srcId="{7C215978-ECA3-48C2-B244-8379A4E6227C}" destId="{17890674-5AE6-42DE-8A30-0B912B411BA2}" srcOrd="1" destOrd="0" presId="urn:microsoft.com/office/officeart/2018/2/layout/IconVerticalSolidList"/>
    <dgm:cxn modelId="{94182BC2-288E-4864-B623-694FE5BC18C7}" type="presParOf" srcId="{7C215978-ECA3-48C2-B244-8379A4E6227C}" destId="{AB5F1D2A-9F9D-46A2-9D18-6F665BDAA4CE}" srcOrd="2" destOrd="0" presId="urn:microsoft.com/office/officeart/2018/2/layout/IconVerticalSolidList"/>
    <dgm:cxn modelId="{CAAC9DBD-2781-44C4-A6B2-D294E1EED0D6}" type="presParOf" srcId="{7C215978-ECA3-48C2-B244-8379A4E6227C}" destId="{90543B34-C4DA-4CF1-8AD3-FE575C6FB18D}" srcOrd="3" destOrd="0" presId="urn:microsoft.com/office/officeart/2018/2/layout/IconVerticalSolidList"/>
    <dgm:cxn modelId="{58C57690-BC16-494B-AACD-15B726A278D1}" type="presParOf" srcId="{7C215978-ECA3-48C2-B244-8379A4E6227C}" destId="{C7DB6048-0967-4FD6-AF72-685B7C2A6773}"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3F691C-D0F7-47F4-9C0D-86754A3EABDD}"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en-US"/>
        </a:p>
      </dgm:t>
    </dgm:pt>
    <dgm:pt modelId="{5AE60CF1-89CC-43F1-BA8B-92520E09E9C7}">
      <dgm:prSet/>
      <dgm:spPr/>
      <dgm:t>
        <a:bodyPr/>
        <a:lstStyle/>
        <a:p>
          <a:r>
            <a:rPr lang="en-US" b="1" dirty="0"/>
            <a:t>Expected Loss = False Negatives x Avg Fraud Amount</a:t>
          </a:r>
          <a:endParaRPr lang="en-US" dirty="0"/>
        </a:p>
      </dgm:t>
    </dgm:pt>
    <dgm:pt modelId="{BC8E32EE-7E75-4970-A093-91D877CFD0FE}" type="parTrans" cxnId="{63F904E6-76BB-40F8-8F78-806C3B026FBC}">
      <dgm:prSet/>
      <dgm:spPr/>
      <dgm:t>
        <a:bodyPr/>
        <a:lstStyle/>
        <a:p>
          <a:endParaRPr lang="en-US"/>
        </a:p>
      </dgm:t>
    </dgm:pt>
    <dgm:pt modelId="{6CEAB7A8-6DF1-4648-9E71-7E58EB67F5AC}" type="sibTrans" cxnId="{63F904E6-76BB-40F8-8F78-806C3B026FBC}">
      <dgm:prSet/>
      <dgm:spPr/>
      <dgm:t>
        <a:bodyPr/>
        <a:lstStyle/>
        <a:p>
          <a:endParaRPr lang="en-US"/>
        </a:p>
      </dgm:t>
    </dgm:pt>
    <dgm:pt modelId="{630D852A-002A-4B6A-8B18-054E997E3330}">
      <dgm:prSet/>
      <dgm:spPr/>
      <dgm:t>
        <a:bodyPr/>
        <a:lstStyle/>
        <a:p>
          <a:r>
            <a:rPr lang="en-US"/>
            <a:t>False Negatives are fraud cases the model missed entirely — each represents a direct financial loss to the institution</a:t>
          </a:r>
        </a:p>
      </dgm:t>
    </dgm:pt>
    <dgm:pt modelId="{442654B3-B0D5-48AF-95AF-28BC4081BD99}" type="parTrans" cxnId="{1BB63BCB-6EF9-44D8-89DC-561C50430BF0}">
      <dgm:prSet/>
      <dgm:spPr/>
      <dgm:t>
        <a:bodyPr/>
        <a:lstStyle/>
        <a:p>
          <a:endParaRPr lang="en-US"/>
        </a:p>
      </dgm:t>
    </dgm:pt>
    <dgm:pt modelId="{83360985-751F-42D7-9420-0D6C12E7D9BA}" type="sibTrans" cxnId="{1BB63BCB-6EF9-44D8-89DC-561C50430BF0}">
      <dgm:prSet/>
      <dgm:spPr/>
      <dgm:t>
        <a:bodyPr/>
        <a:lstStyle/>
        <a:p>
          <a:endParaRPr lang="en-US"/>
        </a:p>
      </dgm:t>
    </dgm:pt>
    <dgm:pt modelId="{0518BDD0-90A4-48B3-AC1C-EB122AC281B7}">
      <dgm:prSet/>
      <dgm:spPr/>
      <dgm:t>
        <a:bodyPr/>
        <a:lstStyle/>
        <a:p>
          <a:r>
            <a:rPr lang="en-US" b="1"/>
            <a:t>Business Outcome</a:t>
          </a:r>
          <a:endParaRPr lang="en-US"/>
        </a:p>
      </dgm:t>
    </dgm:pt>
    <dgm:pt modelId="{C16D7870-A8EB-4BCD-9987-B1DF5410C69C}" type="parTrans" cxnId="{07A9BF28-0A52-40AA-BEF5-D75B45F68B8F}">
      <dgm:prSet/>
      <dgm:spPr/>
      <dgm:t>
        <a:bodyPr/>
        <a:lstStyle/>
        <a:p>
          <a:endParaRPr lang="en-US"/>
        </a:p>
      </dgm:t>
    </dgm:pt>
    <dgm:pt modelId="{3A031E59-1A0C-47BB-A2DC-BE68D1A328D9}" type="sibTrans" cxnId="{07A9BF28-0A52-40AA-BEF5-D75B45F68B8F}">
      <dgm:prSet/>
      <dgm:spPr/>
      <dgm:t>
        <a:bodyPr/>
        <a:lstStyle/>
        <a:p>
          <a:endParaRPr lang="en-US"/>
        </a:p>
      </dgm:t>
    </dgm:pt>
    <dgm:pt modelId="{AD9C7303-92AD-4A8B-91B0-7FD2993E2F36}">
      <dgm:prSet/>
      <dgm:spPr/>
      <dgm:t>
        <a:bodyPr/>
        <a:lstStyle/>
        <a:p>
          <a:r>
            <a:rPr lang="en-US"/>
            <a:t>Random Forest and Gradient Boosting significantly reduce expected loss compared to Logistic Regression baseline</a:t>
          </a:r>
        </a:p>
      </dgm:t>
    </dgm:pt>
    <dgm:pt modelId="{86641674-C62E-4533-9E5F-4D714EBBE98E}" type="parTrans" cxnId="{5054D480-328C-42F0-AF98-7203B11987E9}">
      <dgm:prSet/>
      <dgm:spPr/>
      <dgm:t>
        <a:bodyPr/>
        <a:lstStyle/>
        <a:p>
          <a:endParaRPr lang="en-US"/>
        </a:p>
      </dgm:t>
    </dgm:pt>
    <dgm:pt modelId="{7B10ACC1-1879-4FA7-A5C2-DB0B2740833D}" type="sibTrans" cxnId="{5054D480-328C-42F0-AF98-7203B11987E9}">
      <dgm:prSet/>
      <dgm:spPr/>
      <dgm:t>
        <a:bodyPr/>
        <a:lstStyle/>
        <a:p>
          <a:endParaRPr lang="en-US"/>
        </a:p>
      </dgm:t>
    </dgm:pt>
    <dgm:pt modelId="{2B5C0C1F-B8A8-42CF-A0D8-B4A3E872E00E}">
      <dgm:prSet/>
      <dgm:spPr/>
      <dgm:t>
        <a:bodyPr/>
        <a:lstStyle/>
        <a:p>
          <a:r>
            <a:rPr lang="en-US" b="1"/>
            <a:t>Model Value</a:t>
          </a:r>
          <a:endParaRPr lang="en-US"/>
        </a:p>
      </dgm:t>
    </dgm:pt>
    <dgm:pt modelId="{F349424C-815A-48F8-BE88-CAB76AFDB30B}" type="parTrans" cxnId="{F71FC865-CB47-47C0-97AD-1955CF923AF3}">
      <dgm:prSet/>
      <dgm:spPr/>
      <dgm:t>
        <a:bodyPr/>
        <a:lstStyle/>
        <a:p>
          <a:endParaRPr lang="en-US"/>
        </a:p>
      </dgm:t>
    </dgm:pt>
    <dgm:pt modelId="{4E45DCEA-EB15-411C-97D2-0552DB7F3F1F}" type="sibTrans" cxnId="{F71FC865-CB47-47C0-97AD-1955CF923AF3}">
      <dgm:prSet/>
      <dgm:spPr/>
      <dgm:t>
        <a:bodyPr/>
        <a:lstStyle/>
        <a:p>
          <a:endParaRPr lang="en-US"/>
        </a:p>
      </dgm:t>
    </dgm:pt>
    <dgm:pt modelId="{BFFC8E7F-5A8F-4301-B6AE-042D7DD8B4E7}">
      <dgm:prSet/>
      <dgm:spPr/>
      <dgm:t>
        <a:bodyPr/>
        <a:lstStyle/>
        <a:p>
          <a:r>
            <a:rPr lang="en-US"/>
            <a:t>Total fraud intercepted = sum of fraud transaction amounts correctly classified — this is the direct financial value delivered by the model</a:t>
          </a:r>
        </a:p>
      </dgm:t>
    </dgm:pt>
    <dgm:pt modelId="{D2F125DE-897E-4DA8-97EC-BE2AD397BF97}" type="parTrans" cxnId="{BAC27398-204E-44A4-988C-C8A9845DE1E0}">
      <dgm:prSet/>
      <dgm:spPr/>
      <dgm:t>
        <a:bodyPr/>
        <a:lstStyle/>
        <a:p>
          <a:endParaRPr lang="en-US"/>
        </a:p>
      </dgm:t>
    </dgm:pt>
    <dgm:pt modelId="{1E257D21-D2B6-458D-82C5-EF182C09F258}" type="sibTrans" cxnId="{BAC27398-204E-44A4-988C-C8A9845DE1E0}">
      <dgm:prSet/>
      <dgm:spPr/>
      <dgm:t>
        <a:bodyPr/>
        <a:lstStyle/>
        <a:p>
          <a:endParaRPr lang="en-US"/>
        </a:p>
      </dgm:t>
    </dgm:pt>
    <dgm:pt modelId="{7723E183-5F11-4BE3-B6BC-E1372EDF89B4}" type="pres">
      <dgm:prSet presAssocID="{A83F691C-D0F7-47F4-9C0D-86754A3EABDD}" presName="linear" presStyleCnt="0">
        <dgm:presLayoutVars>
          <dgm:animLvl val="lvl"/>
          <dgm:resizeHandles val="exact"/>
        </dgm:presLayoutVars>
      </dgm:prSet>
      <dgm:spPr/>
    </dgm:pt>
    <dgm:pt modelId="{FA46C30A-8AC0-460A-B1DD-D088972EB2FE}" type="pres">
      <dgm:prSet presAssocID="{5AE60CF1-89CC-43F1-BA8B-92520E09E9C7}" presName="parentText" presStyleLbl="node1" presStyleIdx="0" presStyleCnt="6">
        <dgm:presLayoutVars>
          <dgm:chMax val="0"/>
          <dgm:bulletEnabled val="1"/>
        </dgm:presLayoutVars>
      </dgm:prSet>
      <dgm:spPr/>
    </dgm:pt>
    <dgm:pt modelId="{F092819C-715D-412E-B5C0-09BC37432509}" type="pres">
      <dgm:prSet presAssocID="{6CEAB7A8-6DF1-4648-9E71-7E58EB67F5AC}" presName="spacer" presStyleCnt="0"/>
      <dgm:spPr/>
    </dgm:pt>
    <dgm:pt modelId="{077F7950-1E36-4BB7-982A-89365157252B}" type="pres">
      <dgm:prSet presAssocID="{630D852A-002A-4B6A-8B18-054E997E3330}" presName="parentText" presStyleLbl="node1" presStyleIdx="1" presStyleCnt="6">
        <dgm:presLayoutVars>
          <dgm:chMax val="0"/>
          <dgm:bulletEnabled val="1"/>
        </dgm:presLayoutVars>
      </dgm:prSet>
      <dgm:spPr/>
    </dgm:pt>
    <dgm:pt modelId="{CA23FFC7-37DB-4D08-9F41-B24E2123DB21}" type="pres">
      <dgm:prSet presAssocID="{83360985-751F-42D7-9420-0D6C12E7D9BA}" presName="spacer" presStyleCnt="0"/>
      <dgm:spPr/>
    </dgm:pt>
    <dgm:pt modelId="{A6517FAE-0935-4595-8BE5-7CA42D29EBDE}" type="pres">
      <dgm:prSet presAssocID="{0518BDD0-90A4-48B3-AC1C-EB122AC281B7}" presName="parentText" presStyleLbl="node1" presStyleIdx="2" presStyleCnt="6">
        <dgm:presLayoutVars>
          <dgm:chMax val="0"/>
          <dgm:bulletEnabled val="1"/>
        </dgm:presLayoutVars>
      </dgm:prSet>
      <dgm:spPr/>
    </dgm:pt>
    <dgm:pt modelId="{A898BE8D-C309-446C-BA86-BD5149E2EAFA}" type="pres">
      <dgm:prSet presAssocID="{3A031E59-1A0C-47BB-A2DC-BE68D1A328D9}" presName="spacer" presStyleCnt="0"/>
      <dgm:spPr/>
    </dgm:pt>
    <dgm:pt modelId="{8CC43274-89DB-4FA1-A475-D0EED0C08CB2}" type="pres">
      <dgm:prSet presAssocID="{AD9C7303-92AD-4A8B-91B0-7FD2993E2F36}" presName="parentText" presStyleLbl="node1" presStyleIdx="3" presStyleCnt="6">
        <dgm:presLayoutVars>
          <dgm:chMax val="0"/>
          <dgm:bulletEnabled val="1"/>
        </dgm:presLayoutVars>
      </dgm:prSet>
      <dgm:spPr/>
    </dgm:pt>
    <dgm:pt modelId="{39A38713-29EB-4B3B-9552-3E700ECEA039}" type="pres">
      <dgm:prSet presAssocID="{7B10ACC1-1879-4FA7-A5C2-DB0B2740833D}" presName="spacer" presStyleCnt="0"/>
      <dgm:spPr/>
    </dgm:pt>
    <dgm:pt modelId="{4B7DD365-9F9D-4F09-935D-3A402E1C0A72}" type="pres">
      <dgm:prSet presAssocID="{2B5C0C1F-B8A8-42CF-A0D8-B4A3E872E00E}" presName="parentText" presStyleLbl="node1" presStyleIdx="4" presStyleCnt="6">
        <dgm:presLayoutVars>
          <dgm:chMax val="0"/>
          <dgm:bulletEnabled val="1"/>
        </dgm:presLayoutVars>
      </dgm:prSet>
      <dgm:spPr/>
    </dgm:pt>
    <dgm:pt modelId="{02628889-673D-4A41-AF63-602DEC76C9A0}" type="pres">
      <dgm:prSet presAssocID="{4E45DCEA-EB15-411C-97D2-0552DB7F3F1F}" presName="spacer" presStyleCnt="0"/>
      <dgm:spPr/>
    </dgm:pt>
    <dgm:pt modelId="{2D0174C0-97D0-412E-86F6-30F78AFDC73E}" type="pres">
      <dgm:prSet presAssocID="{BFFC8E7F-5A8F-4301-B6AE-042D7DD8B4E7}" presName="parentText" presStyleLbl="node1" presStyleIdx="5" presStyleCnt="6">
        <dgm:presLayoutVars>
          <dgm:chMax val="0"/>
          <dgm:bulletEnabled val="1"/>
        </dgm:presLayoutVars>
      </dgm:prSet>
      <dgm:spPr/>
    </dgm:pt>
  </dgm:ptLst>
  <dgm:cxnLst>
    <dgm:cxn modelId="{DD5C851D-4AC3-4310-A964-92D7D02665AE}" type="presOf" srcId="{630D852A-002A-4B6A-8B18-054E997E3330}" destId="{077F7950-1E36-4BB7-982A-89365157252B}" srcOrd="0" destOrd="0" presId="urn:microsoft.com/office/officeart/2005/8/layout/vList2"/>
    <dgm:cxn modelId="{1D6D4F22-C821-4DC5-B192-C86222783AE3}" type="presOf" srcId="{2B5C0C1F-B8A8-42CF-A0D8-B4A3E872E00E}" destId="{4B7DD365-9F9D-4F09-935D-3A402E1C0A72}" srcOrd="0" destOrd="0" presId="urn:microsoft.com/office/officeart/2005/8/layout/vList2"/>
    <dgm:cxn modelId="{07A9BF28-0A52-40AA-BEF5-D75B45F68B8F}" srcId="{A83F691C-D0F7-47F4-9C0D-86754A3EABDD}" destId="{0518BDD0-90A4-48B3-AC1C-EB122AC281B7}" srcOrd="2" destOrd="0" parTransId="{C16D7870-A8EB-4BCD-9987-B1DF5410C69C}" sibTransId="{3A031E59-1A0C-47BB-A2DC-BE68D1A328D9}"/>
    <dgm:cxn modelId="{AEB0872D-7470-426E-A56F-5043545DA075}" type="presOf" srcId="{BFFC8E7F-5A8F-4301-B6AE-042D7DD8B4E7}" destId="{2D0174C0-97D0-412E-86F6-30F78AFDC73E}" srcOrd="0" destOrd="0" presId="urn:microsoft.com/office/officeart/2005/8/layout/vList2"/>
    <dgm:cxn modelId="{F71FC865-CB47-47C0-97AD-1955CF923AF3}" srcId="{A83F691C-D0F7-47F4-9C0D-86754A3EABDD}" destId="{2B5C0C1F-B8A8-42CF-A0D8-B4A3E872E00E}" srcOrd="4" destOrd="0" parTransId="{F349424C-815A-48F8-BE88-CAB76AFDB30B}" sibTransId="{4E45DCEA-EB15-411C-97D2-0552DB7F3F1F}"/>
    <dgm:cxn modelId="{C08F8F52-482C-4B32-9B0A-84BE58950F96}" type="presOf" srcId="{A83F691C-D0F7-47F4-9C0D-86754A3EABDD}" destId="{7723E183-5F11-4BE3-B6BC-E1372EDF89B4}" srcOrd="0" destOrd="0" presId="urn:microsoft.com/office/officeart/2005/8/layout/vList2"/>
    <dgm:cxn modelId="{5054D480-328C-42F0-AF98-7203B11987E9}" srcId="{A83F691C-D0F7-47F4-9C0D-86754A3EABDD}" destId="{AD9C7303-92AD-4A8B-91B0-7FD2993E2F36}" srcOrd="3" destOrd="0" parTransId="{86641674-C62E-4533-9E5F-4D714EBBE98E}" sibTransId="{7B10ACC1-1879-4FA7-A5C2-DB0B2740833D}"/>
    <dgm:cxn modelId="{BAC27398-204E-44A4-988C-C8A9845DE1E0}" srcId="{A83F691C-D0F7-47F4-9C0D-86754A3EABDD}" destId="{BFFC8E7F-5A8F-4301-B6AE-042D7DD8B4E7}" srcOrd="5" destOrd="0" parTransId="{D2F125DE-897E-4DA8-97EC-BE2AD397BF97}" sibTransId="{1E257D21-D2B6-458D-82C5-EF182C09F258}"/>
    <dgm:cxn modelId="{443D36A3-9EAC-4091-AD1D-A8D66FF64526}" type="presOf" srcId="{5AE60CF1-89CC-43F1-BA8B-92520E09E9C7}" destId="{FA46C30A-8AC0-460A-B1DD-D088972EB2FE}" srcOrd="0" destOrd="0" presId="urn:microsoft.com/office/officeart/2005/8/layout/vList2"/>
    <dgm:cxn modelId="{26C345B1-A2F6-49E7-A31C-EF7D42D655B9}" type="presOf" srcId="{AD9C7303-92AD-4A8B-91B0-7FD2993E2F36}" destId="{8CC43274-89DB-4FA1-A475-D0EED0C08CB2}" srcOrd="0" destOrd="0" presId="urn:microsoft.com/office/officeart/2005/8/layout/vList2"/>
    <dgm:cxn modelId="{1BB63BCB-6EF9-44D8-89DC-561C50430BF0}" srcId="{A83F691C-D0F7-47F4-9C0D-86754A3EABDD}" destId="{630D852A-002A-4B6A-8B18-054E997E3330}" srcOrd="1" destOrd="0" parTransId="{442654B3-B0D5-48AF-95AF-28BC4081BD99}" sibTransId="{83360985-751F-42D7-9420-0D6C12E7D9BA}"/>
    <dgm:cxn modelId="{63F904E6-76BB-40F8-8F78-806C3B026FBC}" srcId="{A83F691C-D0F7-47F4-9C0D-86754A3EABDD}" destId="{5AE60CF1-89CC-43F1-BA8B-92520E09E9C7}" srcOrd="0" destOrd="0" parTransId="{BC8E32EE-7E75-4970-A093-91D877CFD0FE}" sibTransId="{6CEAB7A8-6DF1-4648-9E71-7E58EB67F5AC}"/>
    <dgm:cxn modelId="{A7AA29EB-30A2-4E44-AB2D-89C75CF86D01}" type="presOf" srcId="{0518BDD0-90A4-48B3-AC1C-EB122AC281B7}" destId="{A6517FAE-0935-4595-8BE5-7CA42D29EBDE}" srcOrd="0" destOrd="0" presId="urn:microsoft.com/office/officeart/2005/8/layout/vList2"/>
    <dgm:cxn modelId="{1B9C9273-4F2E-4D80-B56D-56DFA6485B3D}" type="presParOf" srcId="{7723E183-5F11-4BE3-B6BC-E1372EDF89B4}" destId="{FA46C30A-8AC0-460A-B1DD-D088972EB2FE}" srcOrd="0" destOrd="0" presId="urn:microsoft.com/office/officeart/2005/8/layout/vList2"/>
    <dgm:cxn modelId="{8E393880-4D2D-44E8-92B1-946A86FD6DB3}" type="presParOf" srcId="{7723E183-5F11-4BE3-B6BC-E1372EDF89B4}" destId="{F092819C-715D-412E-B5C0-09BC37432509}" srcOrd="1" destOrd="0" presId="urn:microsoft.com/office/officeart/2005/8/layout/vList2"/>
    <dgm:cxn modelId="{B6CB3657-B228-4F74-926A-F5FF644D977C}" type="presParOf" srcId="{7723E183-5F11-4BE3-B6BC-E1372EDF89B4}" destId="{077F7950-1E36-4BB7-982A-89365157252B}" srcOrd="2" destOrd="0" presId="urn:microsoft.com/office/officeart/2005/8/layout/vList2"/>
    <dgm:cxn modelId="{9BDCF50A-43E4-4B70-ADF0-B2EE4015A9AC}" type="presParOf" srcId="{7723E183-5F11-4BE3-B6BC-E1372EDF89B4}" destId="{CA23FFC7-37DB-4D08-9F41-B24E2123DB21}" srcOrd="3" destOrd="0" presId="urn:microsoft.com/office/officeart/2005/8/layout/vList2"/>
    <dgm:cxn modelId="{B1F9DCD6-DF4E-4B4D-98C4-5BD635D4AEFA}" type="presParOf" srcId="{7723E183-5F11-4BE3-B6BC-E1372EDF89B4}" destId="{A6517FAE-0935-4595-8BE5-7CA42D29EBDE}" srcOrd="4" destOrd="0" presId="urn:microsoft.com/office/officeart/2005/8/layout/vList2"/>
    <dgm:cxn modelId="{C50907E6-6C96-48A9-8EA0-51B979F70CDB}" type="presParOf" srcId="{7723E183-5F11-4BE3-B6BC-E1372EDF89B4}" destId="{A898BE8D-C309-446C-BA86-BD5149E2EAFA}" srcOrd="5" destOrd="0" presId="urn:microsoft.com/office/officeart/2005/8/layout/vList2"/>
    <dgm:cxn modelId="{0CC7AFD3-866A-4BF0-A6EA-768ECCBB6995}" type="presParOf" srcId="{7723E183-5F11-4BE3-B6BC-E1372EDF89B4}" destId="{8CC43274-89DB-4FA1-A475-D0EED0C08CB2}" srcOrd="6" destOrd="0" presId="urn:microsoft.com/office/officeart/2005/8/layout/vList2"/>
    <dgm:cxn modelId="{0722900F-A0AE-46DA-8B39-A24E7DF67EFC}" type="presParOf" srcId="{7723E183-5F11-4BE3-B6BC-E1372EDF89B4}" destId="{39A38713-29EB-4B3B-9552-3E700ECEA039}" srcOrd="7" destOrd="0" presId="urn:microsoft.com/office/officeart/2005/8/layout/vList2"/>
    <dgm:cxn modelId="{FD9F7AB9-2560-49C8-BAD1-6304F571CF98}" type="presParOf" srcId="{7723E183-5F11-4BE3-B6BC-E1372EDF89B4}" destId="{4B7DD365-9F9D-4F09-935D-3A402E1C0A72}" srcOrd="8" destOrd="0" presId="urn:microsoft.com/office/officeart/2005/8/layout/vList2"/>
    <dgm:cxn modelId="{F4C32D8F-74BE-4482-9674-87C0A799DD68}" type="presParOf" srcId="{7723E183-5F11-4BE3-B6BC-E1372EDF89B4}" destId="{02628889-673D-4A41-AF63-602DEC76C9A0}" srcOrd="9" destOrd="0" presId="urn:microsoft.com/office/officeart/2005/8/layout/vList2"/>
    <dgm:cxn modelId="{3402595A-DF81-4E85-82AB-E1F37572824F}" type="presParOf" srcId="{7723E183-5F11-4BE3-B6BC-E1372EDF89B4}" destId="{2D0174C0-97D0-412E-86F6-30F78AFDC73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62774-E687-45C0-9779-E5C016894B04}">
      <dsp:nvSpPr>
        <dsp:cNvPr id="0" name=""/>
        <dsp:cNvSpPr/>
      </dsp:nvSpPr>
      <dsp:spPr>
        <a:xfrm>
          <a:off x="691290" y="974"/>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Step 1 - Data Loading &amp; Inspection</a:t>
          </a:r>
          <a:endParaRPr lang="en-US" sz="2000" kern="1200"/>
        </a:p>
      </dsp:txBody>
      <dsp:txXfrm>
        <a:off x="691290" y="974"/>
        <a:ext cx="2198058" cy="1318835"/>
      </dsp:txXfrm>
    </dsp:sp>
    <dsp:sp modelId="{3542B24C-B339-4D29-9C85-F5E48B081A35}">
      <dsp:nvSpPr>
        <dsp:cNvPr id="0" name=""/>
        <dsp:cNvSpPr/>
      </dsp:nvSpPr>
      <dsp:spPr>
        <a:xfrm>
          <a:off x="3109155" y="974"/>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Load CSV, check shape, nulls, stats</a:t>
          </a:r>
        </a:p>
      </dsp:txBody>
      <dsp:txXfrm>
        <a:off x="3109155" y="974"/>
        <a:ext cx="2198058" cy="1318835"/>
      </dsp:txXfrm>
    </dsp:sp>
    <dsp:sp modelId="{20071915-2949-4860-9461-0A16C5FA630C}">
      <dsp:nvSpPr>
        <dsp:cNvPr id="0" name=""/>
        <dsp:cNvSpPr/>
      </dsp:nvSpPr>
      <dsp:spPr>
        <a:xfrm>
          <a:off x="5527019" y="974"/>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Step 2 - EDA &amp; Visualization</a:t>
          </a:r>
          <a:endParaRPr lang="en-US" sz="2000" kern="1200"/>
        </a:p>
      </dsp:txBody>
      <dsp:txXfrm>
        <a:off x="5527019" y="974"/>
        <a:ext cx="2198058" cy="1318835"/>
      </dsp:txXfrm>
    </dsp:sp>
    <dsp:sp modelId="{3AB33FDC-95A3-44DE-986B-10A6987A74E5}">
      <dsp:nvSpPr>
        <dsp:cNvPr id="0" name=""/>
        <dsp:cNvSpPr/>
      </dsp:nvSpPr>
      <dsp:spPr>
        <a:xfrm>
          <a:off x="7944884" y="974"/>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Class distribution, fraud by type, amounts</a:t>
          </a:r>
        </a:p>
      </dsp:txBody>
      <dsp:txXfrm>
        <a:off x="7944884" y="974"/>
        <a:ext cx="2198058" cy="1318835"/>
      </dsp:txXfrm>
    </dsp:sp>
    <dsp:sp modelId="{F89E055D-B86A-4BE0-81FC-1A6C7F0160F9}">
      <dsp:nvSpPr>
        <dsp:cNvPr id="0" name=""/>
        <dsp:cNvSpPr/>
      </dsp:nvSpPr>
      <dsp:spPr>
        <a:xfrm>
          <a:off x="691290" y="1539615"/>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Step 3 - Feature Engineering</a:t>
          </a:r>
          <a:endParaRPr lang="en-US" sz="2000" kern="1200"/>
        </a:p>
      </dsp:txBody>
      <dsp:txXfrm>
        <a:off x="691290" y="1539615"/>
        <a:ext cx="2198058" cy="1318835"/>
      </dsp:txXfrm>
    </dsp:sp>
    <dsp:sp modelId="{AA80E203-BBAA-412B-A176-5A08844CE893}">
      <dsp:nvSpPr>
        <dsp:cNvPr id="0" name=""/>
        <dsp:cNvSpPr/>
      </dsp:nvSpPr>
      <dsp:spPr>
        <a:xfrm>
          <a:off x="3109155" y="1539615"/>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Balance error features, encoding, drop IDs</a:t>
          </a:r>
        </a:p>
      </dsp:txBody>
      <dsp:txXfrm>
        <a:off x="3109155" y="1539615"/>
        <a:ext cx="2198058" cy="1318835"/>
      </dsp:txXfrm>
    </dsp:sp>
    <dsp:sp modelId="{4B51D567-49FE-4F52-B9EE-BFD93A46FB38}">
      <dsp:nvSpPr>
        <dsp:cNvPr id="0" name=""/>
        <dsp:cNvSpPr/>
      </dsp:nvSpPr>
      <dsp:spPr>
        <a:xfrm>
          <a:off x="5527019" y="1539615"/>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Step 4 - SMOTE + Scaling</a:t>
          </a:r>
          <a:endParaRPr lang="en-US" sz="2000" kern="1200"/>
        </a:p>
      </dsp:txBody>
      <dsp:txXfrm>
        <a:off x="5527019" y="1539615"/>
        <a:ext cx="2198058" cy="1318835"/>
      </dsp:txXfrm>
    </dsp:sp>
    <dsp:sp modelId="{3B2617F0-C91C-4DD3-9532-44E2621CA77B}">
      <dsp:nvSpPr>
        <dsp:cNvPr id="0" name=""/>
        <dsp:cNvSpPr/>
      </dsp:nvSpPr>
      <dsp:spPr>
        <a:xfrm>
          <a:off x="7944884" y="1539615"/>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Balance classes with SMOTE, StandardScaler</a:t>
          </a:r>
        </a:p>
      </dsp:txBody>
      <dsp:txXfrm>
        <a:off x="7944884" y="1539615"/>
        <a:ext cx="2198058" cy="1318835"/>
      </dsp:txXfrm>
    </dsp:sp>
    <dsp:sp modelId="{B7B55D2F-2BC6-45BE-BF57-0A9AA97429AF}">
      <dsp:nvSpPr>
        <dsp:cNvPr id="0" name=""/>
        <dsp:cNvSpPr/>
      </dsp:nvSpPr>
      <dsp:spPr>
        <a:xfrm>
          <a:off x="3109155" y="3078256"/>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Step 5 - Model Training &amp; Evaluation</a:t>
          </a:r>
          <a:endParaRPr lang="en-US" sz="2000" kern="1200"/>
        </a:p>
      </dsp:txBody>
      <dsp:txXfrm>
        <a:off x="3109155" y="3078256"/>
        <a:ext cx="2198058" cy="1318835"/>
      </dsp:txXfrm>
    </dsp:sp>
    <dsp:sp modelId="{D9EB31BE-DB2A-4F70-951A-D03895AB4F27}">
      <dsp:nvSpPr>
        <dsp:cNvPr id="0" name=""/>
        <dsp:cNvSpPr/>
      </dsp:nvSpPr>
      <dsp:spPr>
        <a:xfrm>
          <a:off x="5527019" y="3078256"/>
          <a:ext cx="2198058" cy="13188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Logistic Regression, Random Forest, Gradient Boosting</a:t>
          </a:r>
        </a:p>
      </dsp:txBody>
      <dsp:txXfrm>
        <a:off x="5527019" y="3078256"/>
        <a:ext cx="2198058" cy="1318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68964-DDEC-408B-A8E9-F0737253CE1C}">
      <dsp:nvSpPr>
        <dsp:cNvPr id="0" name=""/>
        <dsp:cNvSpPr/>
      </dsp:nvSpPr>
      <dsp:spPr>
        <a:xfrm>
          <a:off x="0" y="536"/>
          <a:ext cx="10834233" cy="1256283"/>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556A16-D2D2-461B-A49A-226E3AF2693F}">
      <dsp:nvSpPr>
        <dsp:cNvPr id="0" name=""/>
        <dsp:cNvSpPr/>
      </dsp:nvSpPr>
      <dsp:spPr>
        <a:xfrm>
          <a:off x="380025" y="283200"/>
          <a:ext cx="690955" cy="6909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D5B9D-72C9-441A-8E2B-6BC82929EA43}">
      <dsp:nvSpPr>
        <dsp:cNvPr id="0" name=""/>
        <dsp:cNvSpPr/>
      </dsp:nvSpPr>
      <dsp:spPr>
        <a:xfrm>
          <a:off x="1451007" y="536"/>
          <a:ext cx="4875405"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1111250">
            <a:lnSpc>
              <a:spcPct val="90000"/>
            </a:lnSpc>
            <a:spcBef>
              <a:spcPct val="0"/>
            </a:spcBef>
            <a:spcAft>
              <a:spcPct val="35000"/>
            </a:spcAft>
            <a:buNone/>
          </a:pPr>
          <a:r>
            <a:rPr lang="en-US" sz="2500" b="1" kern="1200"/>
            <a:t>Class Imbalance</a:t>
          </a:r>
          <a:endParaRPr lang="en-US" sz="2500" kern="1200"/>
        </a:p>
      </dsp:txBody>
      <dsp:txXfrm>
        <a:off x="1451007" y="536"/>
        <a:ext cx="4875405" cy="1256283"/>
      </dsp:txXfrm>
    </dsp:sp>
    <dsp:sp modelId="{9E8D5566-B7B2-4ED2-B65A-1679A69575C1}">
      <dsp:nvSpPr>
        <dsp:cNvPr id="0" name=""/>
        <dsp:cNvSpPr/>
      </dsp:nvSpPr>
      <dsp:spPr>
        <a:xfrm>
          <a:off x="6326412" y="536"/>
          <a:ext cx="4507821"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711200">
            <a:lnSpc>
              <a:spcPct val="90000"/>
            </a:lnSpc>
            <a:spcBef>
              <a:spcPct val="0"/>
            </a:spcBef>
            <a:spcAft>
              <a:spcPct val="35000"/>
            </a:spcAft>
            <a:buNone/>
          </a:pPr>
          <a:r>
            <a:rPr lang="en-US" sz="1600" kern="1200"/>
            <a:t>Non-Fraud: 99.87%  |  Fraud: 0.13% — Highly imbalanced dataset</a:t>
          </a:r>
        </a:p>
        <a:p>
          <a:pPr marL="0" lvl="0" indent="0" algn="l" defTabSz="711200">
            <a:lnSpc>
              <a:spcPct val="90000"/>
            </a:lnSpc>
            <a:spcBef>
              <a:spcPct val="0"/>
            </a:spcBef>
            <a:spcAft>
              <a:spcPct val="35000"/>
            </a:spcAft>
            <a:buNone/>
          </a:pPr>
          <a:r>
            <a:rPr lang="en-US" sz="1600" kern="1200" dirty="0"/>
            <a:t>A naive model predicting all Non-Fraud achieves 99.87% accuracy but catches zero fraud</a:t>
          </a:r>
        </a:p>
      </dsp:txBody>
      <dsp:txXfrm>
        <a:off x="6326412" y="536"/>
        <a:ext cx="4507821" cy="1256283"/>
      </dsp:txXfrm>
    </dsp:sp>
    <dsp:sp modelId="{B586DB4B-698D-4871-8FD1-B93219744205}">
      <dsp:nvSpPr>
        <dsp:cNvPr id="0" name=""/>
        <dsp:cNvSpPr/>
      </dsp:nvSpPr>
      <dsp:spPr>
        <a:xfrm>
          <a:off x="0" y="1570891"/>
          <a:ext cx="10834233" cy="1256283"/>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7063A3-8412-4555-A40E-A32ECBB5DB9C}">
      <dsp:nvSpPr>
        <dsp:cNvPr id="0" name=""/>
        <dsp:cNvSpPr/>
      </dsp:nvSpPr>
      <dsp:spPr>
        <a:xfrm>
          <a:off x="380025" y="1853555"/>
          <a:ext cx="690955" cy="6909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B35C84-F07C-4700-86BA-BE6B7AF68426}">
      <dsp:nvSpPr>
        <dsp:cNvPr id="0" name=""/>
        <dsp:cNvSpPr/>
      </dsp:nvSpPr>
      <dsp:spPr>
        <a:xfrm>
          <a:off x="1451007" y="1570891"/>
          <a:ext cx="4875405"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1111250">
            <a:lnSpc>
              <a:spcPct val="90000"/>
            </a:lnSpc>
            <a:spcBef>
              <a:spcPct val="0"/>
            </a:spcBef>
            <a:spcAft>
              <a:spcPct val="35000"/>
            </a:spcAft>
            <a:buNone/>
          </a:pPr>
          <a:r>
            <a:rPr lang="en-US" sz="2500" b="1" kern="1200"/>
            <a:t>Fraud by Transaction Type</a:t>
          </a:r>
          <a:endParaRPr lang="en-US" sz="2500" kern="1200"/>
        </a:p>
      </dsp:txBody>
      <dsp:txXfrm>
        <a:off x="1451007" y="1570891"/>
        <a:ext cx="4875405" cy="1256283"/>
      </dsp:txXfrm>
    </dsp:sp>
    <dsp:sp modelId="{CBBF807E-B47F-43A8-8E84-3415E118AF25}">
      <dsp:nvSpPr>
        <dsp:cNvPr id="0" name=""/>
        <dsp:cNvSpPr/>
      </dsp:nvSpPr>
      <dsp:spPr>
        <a:xfrm>
          <a:off x="6326412" y="1570891"/>
          <a:ext cx="4507821"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711200">
            <a:lnSpc>
              <a:spcPct val="90000"/>
            </a:lnSpc>
            <a:spcBef>
              <a:spcPct val="0"/>
            </a:spcBef>
            <a:spcAft>
              <a:spcPct val="35000"/>
            </a:spcAft>
            <a:buNone/>
          </a:pPr>
          <a:r>
            <a:rPr lang="en-US" sz="1600" kern="1200"/>
            <a:t>Fraud occurs ONLY in TRANSFER and CASH_OUT transactions</a:t>
          </a:r>
        </a:p>
        <a:p>
          <a:pPr marL="0" lvl="0" indent="0" algn="l" defTabSz="711200">
            <a:lnSpc>
              <a:spcPct val="90000"/>
            </a:lnSpc>
            <a:spcBef>
              <a:spcPct val="0"/>
            </a:spcBef>
            <a:spcAft>
              <a:spcPct val="35000"/>
            </a:spcAft>
            <a:buNone/>
          </a:pPr>
          <a:r>
            <a:rPr lang="en-US" sz="1600" kern="1200"/>
            <a:t>PAYMENT, DEBIT, CASH_IN transactions show zero fraudulent activity</a:t>
          </a:r>
        </a:p>
      </dsp:txBody>
      <dsp:txXfrm>
        <a:off x="6326412" y="1570891"/>
        <a:ext cx="4507821" cy="1256283"/>
      </dsp:txXfrm>
    </dsp:sp>
    <dsp:sp modelId="{53942CD9-9F08-4BA0-8178-C0D005AAF54C}">
      <dsp:nvSpPr>
        <dsp:cNvPr id="0" name=""/>
        <dsp:cNvSpPr/>
      </dsp:nvSpPr>
      <dsp:spPr>
        <a:xfrm>
          <a:off x="0" y="3141245"/>
          <a:ext cx="10834233" cy="1256283"/>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890674-5AE6-42DE-8A30-0B912B411BA2}">
      <dsp:nvSpPr>
        <dsp:cNvPr id="0" name=""/>
        <dsp:cNvSpPr/>
      </dsp:nvSpPr>
      <dsp:spPr>
        <a:xfrm>
          <a:off x="380025" y="3423909"/>
          <a:ext cx="690955" cy="6909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543B34-C4DA-4CF1-8AD3-FE575C6FB18D}">
      <dsp:nvSpPr>
        <dsp:cNvPr id="0" name=""/>
        <dsp:cNvSpPr/>
      </dsp:nvSpPr>
      <dsp:spPr>
        <a:xfrm>
          <a:off x="1451007" y="3141245"/>
          <a:ext cx="4875405"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1111250">
            <a:lnSpc>
              <a:spcPct val="90000"/>
            </a:lnSpc>
            <a:spcBef>
              <a:spcPct val="0"/>
            </a:spcBef>
            <a:spcAft>
              <a:spcPct val="35000"/>
            </a:spcAft>
            <a:buNone/>
          </a:pPr>
          <a:r>
            <a:rPr lang="en-US" sz="2500" b="1" kern="1200"/>
            <a:t>Amount Distribution Insight</a:t>
          </a:r>
          <a:endParaRPr lang="en-US" sz="2500" kern="1200"/>
        </a:p>
      </dsp:txBody>
      <dsp:txXfrm>
        <a:off x="1451007" y="3141245"/>
        <a:ext cx="4875405" cy="1256283"/>
      </dsp:txXfrm>
    </dsp:sp>
    <dsp:sp modelId="{C7DB6048-0967-4FD6-AF72-685B7C2A6773}">
      <dsp:nvSpPr>
        <dsp:cNvPr id="0" name=""/>
        <dsp:cNvSpPr/>
      </dsp:nvSpPr>
      <dsp:spPr>
        <a:xfrm>
          <a:off x="6326412" y="3141245"/>
          <a:ext cx="4507821" cy="12562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957" tIns="132957" rIns="132957" bIns="132957" numCol="1" spcCol="1270" anchor="ctr" anchorCtr="0">
          <a:noAutofit/>
        </a:bodyPr>
        <a:lstStyle/>
        <a:p>
          <a:pPr marL="0" lvl="0" indent="0" algn="l" defTabSz="711200">
            <a:lnSpc>
              <a:spcPct val="90000"/>
            </a:lnSpc>
            <a:spcBef>
              <a:spcPct val="0"/>
            </a:spcBef>
            <a:spcAft>
              <a:spcPct val="35000"/>
            </a:spcAft>
            <a:buNone/>
          </a:pPr>
          <a:r>
            <a:rPr lang="en-US" sz="1600" kern="1200"/>
            <a:t>Fraudulent transactions tend to involve larger amounts than legitimate ones</a:t>
          </a:r>
        </a:p>
        <a:p>
          <a:pPr marL="0" lvl="0" indent="0" algn="l" defTabSz="711200">
            <a:lnSpc>
              <a:spcPct val="90000"/>
            </a:lnSpc>
            <a:spcBef>
              <a:spcPct val="0"/>
            </a:spcBef>
            <a:spcAft>
              <a:spcPct val="35000"/>
            </a:spcAft>
            <a:buNone/>
          </a:pPr>
          <a:r>
            <a:rPr lang="en-US" sz="1600" kern="1200"/>
            <a:t>Balance discrepancies (errorOrig, errorDest) are strong fraud signals</a:t>
          </a:r>
        </a:p>
      </dsp:txBody>
      <dsp:txXfrm>
        <a:off x="6326412" y="3141245"/>
        <a:ext cx="4507821" cy="12562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46C30A-8AC0-460A-B1DD-D088972EB2FE}">
      <dsp:nvSpPr>
        <dsp:cNvPr id="0" name=""/>
        <dsp:cNvSpPr/>
      </dsp:nvSpPr>
      <dsp:spPr>
        <a:xfrm>
          <a:off x="0" y="50650"/>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Expected Loss = False Negatives x Avg Fraud Amount</a:t>
          </a:r>
          <a:endParaRPr lang="en-US" sz="1700" kern="1200" dirty="0"/>
        </a:p>
      </dsp:txBody>
      <dsp:txXfrm>
        <a:off x="32967" y="83617"/>
        <a:ext cx="10768299" cy="609393"/>
      </dsp:txXfrm>
    </dsp:sp>
    <dsp:sp modelId="{077F7950-1E36-4BB7-982A-89365157252B}">
      <dsp:nvSpPr>
        <dsp:cNvPr id="0" name=""/>
        <dsp:cNvSpPr/>
      </dsp:nvSpPr>
      <dsp:spPr>
        <a:xfrm>
          <a:off x="0" y="774937"/>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False Negatives are fraud cases the model missed entirely — each represents a direct financial loss to the institution</a:t>
          </a:r>
        </a:p>
      </dsp:txBody>
      <dsp:txXfrm>
        <a:off x="32967" y="807904"/>
        <a:ext cx="10768299" cy="609393"/>
      </dsp:txXfrm>
    </dsp:sp>
    <dsp:sp modelId="{A6517FAE-0935-4595-8BE5-7CA42D29EBDE}">
      <dsp:nvSpPr>
        <dsp:cNvPr id="0" name=""/>
        <dsp:cNvSpPr/>
      </dsp:nvSpPr>
      <dsp:spPr>
        <a:xfrm>
          <a:off x="0" y="1499225"/>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Business Outcome</a:t>
          </a:r>
          <a:endParaRPr lang="en-US" sz="1700" kern="1200"/>
        </a:p>
      </dsp:txBody>
      <dsp:txXfrm>
        <a:off x="32967" y="1532192"/>
        <a:ext cx="10768299" cy="609393"/>
      </dsp:txXfrm>
    </dsp:sp>
    <dsp:sp modelId="{8CC43274-89DB-4FA1-A475-D0EED0C08CB2}">
      <dsp:nvSpPr>
        <dsp:cNvPr id="0" name=""/>
        <dsp:cNvSpPr/>
      </dsp:nvSpPr>
      <dsp:spPr>
        <a:xfrm>
          <a:off x="0" y="2223513"/>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Random Forest and Gradient Boosting significantly reduce expected loss compared to Logistic Regression baseline</a:t>
          </a:r>
        </a:p>
      </dsp:txBody>
      <dsp:txXfrm>
        <a:off x="32967" y="2256480"/>
        <a:ext cx="10768299" cy="609393"/>
      </dsp:txXfrm>
    </dsp:sp>
    <dsp:sp modelId="{4B7DD365-9F9D-4F09-935D-3A402E1C0A72}">
      <dsp:nvSpPr>
        <dsp:cNvPr id="0" name=""/>
        <dsp:cNvSpPr/>
      </dsp:nvSpPr>
      <dsp:spPr>
        <a:xfrm>
          <a:off x="0" y="2947800"/>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Model Value</a:t>
          </a:r>
          <a:endParaRPr lang="en-US" sz="1700" kern="1200"/>
        </a:p>
      </dsp:txBody>
      <dsp:txXfrm>
        <a:off x="32967" y="2980767"/>
        <a:ext cx="10768299" cy="609393"/>
      </dsp:txXfrm>
    </dsp:sp>
    <dsp:sp modelId="{2D0174C0-97D0-412E-86F6-30F78AFDC73E}">
      <dsp:nvSpPr>
        <dsp:cNvPr id="0" name=""/>
        <dsp:cNvSpPr/>
      </dsp:nvSpPr>
      <dsp:spPr>
        <a:xfrm>
          <a:off x="0" y="3672088"/>
          <a:ext cx="10834233" cy="6753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Total fraud intercepted = sum of fraud transaction amounts correctly classified — this is the direct financial value delivered by the model</a:t>
          </a:r>
        </a:p>
      </dsp:txBody>
      <dsp:txXfrm>
        <a:off x="32967" y="3705055"/>
        <a:ext cx="10768299" cy="60939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24-02-2026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2</a:t>
            </a:fld>
            <a:endParaRPr lang="en-IN" dirty="0"/>
          </a:p>
        </p:txBody>
      </p:sp>
    </p:spTree>
    <p:extLst>
      <p:ext uri="{BB962C8B-B14F-4D97-AF65-F5344CB8AC3E}">
        <p14:creationId xmlns:p14="http://schemas.microsoft.com/office/powerpoint/2010/main" val="249650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5766062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39150" y="3633116"/>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Fraud Detection in Transaction</a:t>
            </a:r>
          </a:p>
          <a:p>
            <a:pPr algn="ctr"/>
            <a:r>
              <a:rPr lang="en-US" sz="3600" b="1" dirty="0"/>
              <a:t>Harsh Sewatkar</a:t>
            </a:r>
            <a:br>
              <a:rPr lang="en-US" sz="4400" dirty="0"/>
            </a:br>
            <a:r>
              <a:rPr lang="en-US" sz="2800" dirty="0"/>
              <a:t>Master Diploma in Data Science</a:t>
            </a:r>
            <a:br>
              <a:rPr lang="en-US" sz="2800" dirty="0"/>
            </a:br>
            <a:r>
              <a:rPr lang="en-US" sz="2800" dirty="0"/>
              <a:t>Boston Institute of Analytics</a:t>
            </a:r>
            <a:br>
              <a:rPr lang="en-US" sz="2800" dirty="0"/>
            </a:br>
            <a:r>
              <a:rPr lang="en-US" sz="2800" dirty="0"/>
              <a:t>2026</a:t>
            </a:r>
          </a:p>
          <a:p>
            <a:pPr algn="ct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4" y="603666"/>
            <a:ext cx="10834234" cy="612775"/>
          </a:xfrm>
        </p:spPr>
        <p:txBody>
          <a:bodyPr anchor="ctr">
            <a:normAutofit/>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675075"/>
            <a:ext cx="10834234" cy="4398066"/>
          </a:xfrm>
        </p:spPr>
        <p:txBody>
          <a:bodyPr>
            <a:normAutofit/>
          </a:bodyPr>
          <a:lstStyle/>
          <a:p>
            <a:pPr marL="0" indent="0">
              <a:buNone/>
            </a:pPr>
            <a:r>
              <a:rPr lang="en-US" dirty="0"/>
              <a:t>01   Problem Statement</a:t>
            </a:r>
          </a:p>
          <a:p>
            <a:pPr marL="0" indent="0">
              <a:buNone/>
            </a:pPr>
            <a:r>
              <a:rPr lang="en-US" dirty="0"/>
              <a:t>02   Dataset Overview</a:t>
            </a:r>
          </a:p>
          <a:p>
            <a:pPr marL="0" indent="0">
              <a:buNone/>
            </a:pPr>
            <a:r>
              <a:rPr lang="en-US" dirty="0"/>
              <a:t>03   Methodology &amp; Pipeline</a:t>
            </a:r>
          </a:p>
          <a:p>
            <a:pPr marL="0" indent="0">
              <a:buNone/>
            </a:pPr>
            <a:r>
              <a:rPr lang="en-US" dirty="0"/>
              <a:t>04   Exploratory Data Analysis</a:t>
            </a:r>
          </a:p>
          <a:p>
            <a:pPr marL="0" indent="0">
              <a:buNone/>
            </a:pPr>
            <a:r>
              <a:rPr lang="en-US" dirty="0"/>
              <a:t>05   Model Building</a:t>
            </a:r>
          </a:p>
          <a:p>
            <a:pPr marL="0" indent="0">
              <a:buNone/>
            </a:pPr>
            <a:r>
              <a:rPr lang="en-US" dirty="0"/>
              <a:t>06   Model Evaluation &amp; Results</a:t>
            </a:r>
          </a:p>
          <a:p>
            <a:pPr marL="0" indent="0">
              <a:buNone/>
            </a:pPr>
            <a:r>
              <a:rPr lang="en-US" dirty="0"/>
              <a:t>07   Financial Impact Analysis</a:t>
            </a:r>
          </a:p>
          <a:p>
            <a:pPr marL="0" indent="0">
              <a:buNone/>
            </a:pPr>
            <a:r>
              <a:rPr lang="en-US" dirty="0"/>
              <a:t>08   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nchor="ctr">
            <a:normAutofit/>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400" b="1"/>
              <a:t>The Challenge of Financial Fraud</a:t>
            </a:r>
          </a:p>
          <a:p>
            <a:pPr lvl="1"/>
            <a:r>
              <a:rPr lang="en-US"/>
              <a:t>Global financial fraud losses exceed $40 billion annually, threatening customers and institutions alike</a:t>
            </a:r>
          </a:p>
          <a:p>
            <a:pPr lvl="1"/>
            <a:r>
              <a:rPr lang="en-US"/>
              <a:t>Traditional rule-based systems fail to detect evolving fraud patterns in real-time</a:t>
            </a:r>
          </a:p>
          <a:p>
            <a:pPr lvl="0"/>
            <a:r>
              <a:rPr lang="en-US" sz="2400" b="1"/>
              <a:t>Key Challenges</a:t>
            </a:r>
          </a:p>
          <a:p>
            <a:pPr lvl="1"/>
            <a:r>
              <a:rPr lang="en-US"/>
              <a:t>Extreme class imbalance: Only ~0.1% of transactions are fraudulent</a:t>
            </a:r>
          </a:p>
          <a:p>
            <a:pPr lvl="1"/>
            <a:r>
              <a:rPr lang="en-US"/>
              <a:t>High cost of missed fraud (False Negatives) vs. customer inconvenience (False Positives)</a:t>
            </a:r>
          </a:p>
          <a:p>
            <a:pPr lvl="0"/>
            <a:r>
              <a:rPr lang="en-US" sz="2400" b="1"/>
              <a:t>Our Objective</a:t>
            </a:r>
          </a:p>
          <a:p>
            <a:pPr lvl="1"/>
            <a:r>
              <a:rPr lang="en-US"/>
              <a:t>Build a Machine Learning model to accurately classify fraudulent transactions and minimize financial losses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4" y="603666"/>
            <a:ext cx="10834234" cy="612775"/>
          </a:xfrm>
        </p:spPr>
        <p:txBody>
          <a:bodyPr anchor="ctr">
            <a:normAutofit/>
          </a:bodyPr>
          <a:lstStyle/>
          <a:p>
            <a:r>
              <a:rPr lang="en-US"/>
              <a:t>Dataset Overview</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678884" y="1675075"/>
            <a:ext cx="10834234" cy="4398066"/>
          </a:xfrm>
        </p:spPr>
        <p:txBody>
          <a:bodyPr>
            <a:normAutofit/>
          </a:bodyPr>
          <a:lstStyle/>
          <a:p>
            <a:pPr marL="0" indent="0">
              <a:buNone/>
            </a:pPr>
            <a:r>
              <a:rPr lang="en-US" b="1"/>
              <a:t>Source: Fraud_Analysis_Dataset.csv</a:t>
            </a:r>
          </a:p>
          <a:p>
            <a:r>
              <a:rPr lang="en-US"/>
              <a:t>6.3M+ records, 11 Features</a:t>
            </a:r>
          </a:p>
          <a:p>
            <a:pPr marL="0" indent="0">
              <a:buNone/>
            </a:pPr>
            <a:r>
              <a:rPr lang="en-US" b="1"/>
              <a:t>Key Features</a:t>
            </a:r>
          </a:p>
          <a:p>
            <a:r>
              <a:rPr lang="en-US"/>
              <a:t>type, amount, balances (Orig/Dest)</a:t>
            </a:r>
          </a:p>
          <a:p>
            <a:pPr marL="0" indent="0">
              <a:buNone/>
            </a:pPr>
            <a:r>
              <a:rPr lang="en-US" b="1"/>
              <a:t>Target: isFraud</a:t>
            </a:r>
          </a:p>
          <a:p>
            <a:r>
              <a:rPr lang="en-US"/>
              <a:t>0 = Legit (99.87%), 1 = Fraud (0.13%)</a:t>
            </a:r>
          </a:p>
          <a:p>
            <a:pPr marL="0" indent="0">
              <a:buNone/>
            </a:pPr>
            <a:r>
              <a:rPr lang="en-US" b="1"/>
              <a:t>Transaction Types</a:t>
            </a:r>
          </a:p>
          <a:p>
            <a:r>
              <a:rPr lang="en-US"/>
              <a:t>TRANSFER, CASH_OUT, CASH_IN, DEBIT, PAYMENT</a:t>
            </a:r>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7B031-7D40-63FF-A4B4-10F153625875}"/>
              </a:ext>
            </a:extLst>
          </p:cNvPr>
          <p:cNvSpPr/>
          <p:nvPr/>
        </p:nvSpPr>
        <p:spPr>
          <a:xfrm>
            <a:off x="678884" y="603666"/>
            <a:ext cx="10834234" cy="612775"/>
          </a:xfrm>
          <a:prstGeom prst="rect">
            <a:avLst/>
          </a:prstGeom>
        </p:spPr>
        <p:style>
          <a:lnRef idx="2">
            <a:schemeClr val="accent6"/>
          </a:lnRef>
          <a:fillRef idx="1">
            <a:schemeClr val="lt1"/>
          </a:fillRef>
          <a:effectRef idx="0">
            <a:schemeClr val="accent6"/>
          </a:effectRef>
          <a:fontRef idx="minor">
            <a:schemeClr val="dk1"/>
          </a:fontRef>
        </p:style>
        <p:txBody>
          <a:bodyPr vert="horz" lIns="0" tIns="0" rIns="0" bIns="0" rtlCol="0" anchor="ctr">
            <a:normAutofit/>
          </a:bodyPr>
          <a:lstStyle/>
          <a:p>
            <a:pPr>
              <a:lnSpc>
                <a:spcPct val="90000"/>
              </a:lnSpc>
              <a:spcBef>
                <a:spcPct val="0"/>
              </a:spcBef>
              <a:spcAft>
                <a:spcPts val="600"/>
              </a:spcAft>
            </a:pPr>
            <a:r>
              <a:rPr lang="en-US" sz="3400" b="1" kern="1200">
                <a:solidFill>
                  <a:schemeClr val="tx1"/>
                </a:solidFill>
                <a:latin typeface="Calibri" panose="020F0502020204030204" pitchFamily="34" charset="0"/>
                <a:ea typeface="+mj-ea"/>
                <a:cs typeface="+mj-cs"/>
              </a:rPr>
              <a:t>Methodology &amp; Pipeline</a:t>
            </a:r>
          </a:p>
        </p:txBody>
      </p:sp>
      <p:graphicFrame>
        <p:nvGraphicFramePr>
          <p:cNvPr id="7" name="Content Placeholder 4">
            <a:extLst>
              <a:ext uri="{FF2B5EF4-FFF2-40B4-BE49-F238E27FC236}">
                <a16:creationId xmlns:a16="http://schemas.microsoft.com/office/drawing/2014/main" id="{4040E3C2-6FB5-C45A-2EFC-B338BC4D2D5B}"/>
              </a:ext>
            </a:extLst>
          </p:cNvPr>
          <p:cNvGraphicFramePr>
            <a:graphicFrameLocks noGrp="1"/>
          </p:cNvGraphicFramePr>
          <p:nvPr>
            <p:ph idx="1"/>
            <p:extLst>
              <p:ext uri="{D42A27DB-BD31-4B8C-83A1-F6EECF244321}">
                <p14:modId xmlns:p14="http://schemas.microsoft.com/office/powerpoint/2010/main" val="2057506275"/>
              </p:ext>
            </p:extLst>
          </p:nvPr>
        </p:nvGraphicFramePr>
        <p:xfrm>
          <a:off x="678884" y="1675075"/>
          <a:ext cx="10834234" cy="4398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nchor="ctr">
            <a:normAutofit/>
          </a:bodyPr>
          <a:lstStyle/>
          <a:p>
            <a:r>
              <a:rPr lang="en-US" dirty="0"/>
              <a:t>Exploratory Data Analysis</a:t>
            </a:r>
            <a:endParaRPr lang="en-IN" dirty="0"/>
          </a:p>
        </p:txBody>
      </p:sp>
      <p:graphicFrame>
        <p:nvGraphicFramePr>
          <p:cNvPr id="5" name="Content Placeholder 2">
            <a:extLst>
              <a:ext uri="{FF2B5EF4-FFF2-40B4-BE49-F238E27FC236}">
                <a16:creationId xmlns:a16="http://schemas.microsoft.com/office/drawing/2014/main" id="{2CAC7EE8-0CA1-97FD-E2DF-94D66A17BDAF}"/>
              </a:ext>
            </a:extLst>
          </p:cNvPr>
          <p:cNvGraphicFramePr>
            <a:graphicFrameLocks noGrp="1"/>
          </p:cNvGraphicFramePr>
          <p:nvPr>
            <p:ph idx="1"/>
            <p:extLst>
              <p:ext uri="{D42A27DB-BD31-4B8C-83A1-F6EECF244321}">
                <p14:modId xmlns:p14="http://schemas.microsoft.com/office/powerpoint/2010/main" val="1108498535"/>
              </p:ext>
            </p:extLst>
          </p:nvPr>
        </p:nvGraphicFramePr>
        <p:xfrm>
          <a:off x="678884" y="1675075"/>
          <a:ext cx="10834234" cy="4398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245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4" y="603666"/>
            <a:ext cx="10834234" cy="612775"/>
          </a:xfrm>
        </p:spPr>
        <p:txBody>
          <a:bodyPr anchor="ctr">
            <a:normAutofit/>
          </a:bodyPr>
          <a:lstStyle/>
          <a:p>
            <a:r>
              <a:rPr lang="en-US" dirty="0"/>
              <a:t>Model Building</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678884" y="1675075"/>
            <a:ext cx="10834234" cy="4398066"/>
          </a:xfrm>
        </p:spPr>
        <p:txBody>
          <a:bodyPr>
            <a:normAutofit/>
          </a:bodyPr>
          <a:lstStyle/>
          <a:p>
            <a:pPr marL="0" indent="0">
              <a:buNone/>
            </a:pPr>
            <a:r>
              <a:rPr lang="en-US" b="1"/>
              <a:t>1. Logistic Regression</a:t>
            </a:r>
          </a:p>
          <a:p>
            <a:r>
              <a:rPr lang="en-US"/>
              <a:t>Baseline binary classifier using sigmoid. Interpretable.</a:t>
            </a:r>
          </a:p>
          <a:p>
            <a:pPr marL="0" indent="0">
              <a:buNone/>
            </a:pPr>
            <a:r>
              <a:rPr lang="en-US" b="1"/>
              <a:t>2. Random Forest</a:t>
            </a:r>
          </a:p>
          <a:p>
            <a:r>
              <a:rPr lang="en-US"/>
              <a:t>100 decision trees with bagging. High accuracy, feature importance.</a:t>
            </a:r>
          </a:p>
          <a:p>
            <a:pPr marL="0" indent="0">
              <a:buNone/>
            </a:pPr>
            <a:r>
              <a:rPr lang="en-US" b="1"/>
              <a:t>3. Gradient Boosting</a:t>
            </a:r>
          </a:p>
          <a:p>
            <a:r>
              <a:rPr lang="en-US"/>
              <a:t>Sequential ensemble correcting prior errors. Best overall accuracy.</a:t>
            </a:r>
          </a:p>
          <a:p>
            <a:pPr marL="0" indent="0">
              <a:buNone/>
            </a:pPr>
            <a:r>
              <a:rPr lang="en-US" b="1"/>
              <a:t>SMOTE Applied Before Training</a:t>
            </a:r>
          </a:p>
          <a:p>
            <a:r>
              <a:rPr lang="en-US"/>
              <a:t>Training balanced 50:50. Test kept imbalanced (real-world).</a:t>
            </a:r>
          </a:p>
        </p:txBody>
      </p:sp>
    </p:spTree>
    <p:extLst>
      <p:ext uri="{BB962C8B-B14F-4D97-AF65-F5344CB8AC3E}">
        <p14:creationId xmlns:p14="http://schemas.microsoft.com/office/powerpoint/2010/main" val="1344420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nchor="ctr">
            <a:normAutofit/>
          </a:bodyPr>
          <a:lstStyle/>
          <a:p>
            <a:r>
              <a:rPr lang="en-US" dirty="0"/>
              <a:t>Model Evaluation &amp; Results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buNone/>
            </a:pPr>
            <a:r>
              <a:rPr lang="en-US" sz="2400" b="1"/>
              <a:t>Key Metrics Used</a:t>
            </a:r>
          </a:p>
          <a:p>
            <a:pPr lvl="1"/>
            <a:r>
              <a:rPr lang="en-US"/>
              <a:t>Recall (most critical) — Did we catch all fraud? Missed fraud = financial loss</a:t>
            </a:r>
          </a:p>
          <a:p>
            <a:pPr lvl="1"/>
            <a:r>
              <a:rPr lang="en-US"/>
              <a:t>Precision — Of flagged fraud, how many are real? Reduces false alarms</a:t>
            </a:r>
          </a:p>
          <a:p>
            <a:pPr lvl="1"/>
            <a:r>
              <a:rPr lang="en-US"/>
              <a:t>F1-Score — Balance between Precision and Recall</a:t>
            </a:r>
          </a:p>
          <a:p>
            <a:pPr lvl="1"/>
            <a:r>
              <a:rPr lang="en-US"/>
              <a:t>ROC-AUC — Overall model discrimination ability (1.0 = perfect, 0.5 = random)</a:t>
            </a:r>
          </a:p>
          <a:p>
            <a:pPr marL="0" lvl="0" indent="0">
              <a:buNone/>
            </a:pPr>
            <a:r>
              <a:rPr lang="en-US" sz="2400" b="1"/>
              <a:t>Results Summary</a:t>
            </a:r>
          </a:p>
          <a:p>
            <a:pPr lvl="1"/>
            <a:r>
              <a:rPr lang="en-US"/>
              <a:t>Logistic Regression  —  Good baseline, limited on complex patterns</a:t>
            </a:r>
          </a:p>
          <a:p>
            <a:pPr lvl="1"/>
            <a:r>
              <a:rPr lang="en-US"/>
              <a:t>Random Forest  —  High precision &amp; recall, excellent ROC-AUC (&gt;0.99)</a:t>
            </a:r>
          </a:p>
          <a:p>
            <a:pPr lvl="1"/>
            <a:r>
              <a:rPr lang="en-US"/>
              <a:t>Gradient Boosting  —  Best overall F1-Score, superior fraud detection rate</a:t>
            </a:r>
          </a:p>
        </p:txBody>
      </p:sp>
    </p:spTree>
    <p:extLst>
      <p:ext uri="{BB962C8B-B14F-4D97-AF65-F5344CB8AC3E}">
        <p14:creationId xmlns:p14="http://schemas.microsoft.com/office/powerpoint/2010/main" val="2272459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chor="ctr">
            <a:normAutofit/>
          </a:bodyPr>
          <a:lstStyle/>
          <a:p>
            <a:r>
              <a:rPr lang="en-US" dirty="0"/>
              <a:t>Financial Impact Analysis</a:t>
            </a:r>
          </a:p>
        </p:txBody>
      </p:sp>
      <p:graphicFrame>
        <p:nvGraphicFramePr>
          <p:cNvPr id="6" name="Content Placeholder 1">
            <a:extLst>
              <a:ext uri="{FF2B5EF4-FFF2-40B4-BE49-F238E27FC236}">
                <a16:creationId xmlns:a16="http://schemas.microsoft.com/office/drawing/2014/main" id="{C1B1BAE9-82F8-BECC-94D5-F9A50B076D37}"/>
              </a:ext>
            </a:extLst>
          </p:cNvPr>
          <p:cNvGraphicFramePr>
            <a:graphicFrameLocks noGrp="1"/>
          </p:cNvGraphicFramePr>
          <p:nvPr>
            <p:ph idx="1"/>
            <p:extLst>
              <p:ext uri="{D42A27DB-BD31-4B8C-83A1-F6EECF244321}">
                <p14:modId xmlns:p14="http://schemas.microsoft.com/office/powerpoint/2010/main" val="3940779828"/>
              </p:ext>
            </p:extLst>
          </p:nvPr>
        </p:nvGraphicFramePr>
        <p:xfrm>
          <a:off x="678884" y="1675075"/>
          <a:ext cx="10834234" cy="4398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5992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603666"/>
            <a:ext cx="10834234" cy="612775"/>
          </a:xfrm>
        </p:spPr>
        <p:txBody>
          <a:bodyPr anchor="ctr">
            <a:normAutofit/>
          </a:bodyPr>
          <a:lstStyle/>
          <a:p>
            <a:r>
              <a:rPr lang="en-US" dirty="0"/>
              <a:t>Conclusion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buNone/>
            </a:pPr>
            <a:r>
              <a:rPr lang="en-US" b="1" dirty="0"/>
              <a:t>Key Achievements</a:t>
            </a:r>
          </a:p>
          <a:p>
            <a:pPr lvl="1"/>
            <a:r>
              <a:rPr lang="en-US" sz="2800" dirty="0"/>
              <a:t>Built and compared 3 ML models on 6.3M+ transactions</a:t>
            </a:r>
          </a:p>
          <a:p>
            <a:pPr lvl="1"/>
            <a:r>
              <a:rPr lang="en-US" sz="2800" dirty="0"/>
              <a:t>Applied SMOTE to balance the highly skewed fraud dataset</a:t>
            </a:r>
          </a:p>
          <a:p>
            <a:pPr lvl="1"/>
            <a:r>
              <a:rPr lang="en-US" sz="2800" dirty="0"/>
              <a:t>Engineered 4 balance-error features improving detection accuracy</a:t>
            </a:r>
          </a:p>
          <a:p>
            <a:pPr marL="0" lvl="0" indent="0">
              <a:buNone/>
            </a:pPr>
            <a:r>
              <a:rPr lang="en-US" b="1" dirty="0"/>
              <a:t>Best Model: Gradient Boosting</a:t>
            </a:r>
          </a:p>
          <a:p>
            <a:pPr lvl="1"/>
            <a:r>
              <a:rPr lang="en-US" sz="2800" dirty="0"/>
              <a:t>Highest Recall — catches the most fraud, minimizing losses</a:t>
            </a:r>
          </a:p>
          <a:p>
            <a:pPr lvl="1"/>
            <a:r>
              <a:rPr lang="en-US" sz="2800" dirty="0"/>
              <a:t>Best ROC-AUC — strongest discrimination between classes</a:t>
            </a:r>
          </a:p>
          <a:p>
            <a:pPr marL="0" lvl="0" indent="0">
              <a:buNone/>
            </a:pPr>
            <a:r>
              <a:rPr lang="en-US" b="1" dirty="0"/>
              <a:t>Future Scope</a:t>
            </a:r>
          </a:p>
          <a:p>
            <a:pPr lvl="1"/>
            <a:r>
              <a:rPr lang="en-US" sz="2800" dirty="0"/>
              <a:t>Real-time API deployment, </a:t>
            </a:r>
            <a:r>
              <a:rPr lang="en-US" sz="2800" dirty="0" err="1"/>
              <a:t>XGBoost</a:t>
            </a:r>
            <a:r>
              <a:rPr lang="en-US" sz="2800" dirty="0"/>
              <a:t>, SHAP explainability</a:t>
            </a:r>
          </a:p>
        </p:txBody>
      </p:sp>
    </p:spTree>
    <p:extLst>
      <p:ext uri="{BB962C8B-B14F-4D97-AF65-F5344CB8AC3E}">
        <p14:creationId xmlns:p14="http://schemas.microsoft.com/office/powerpoint/2010/main" val="2272459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E65EB3-08C3-43E3-9163-D67C81A0AF0B}">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6936</TotalTime>
  <Words>633</Words>
  <Application>Microsoft Office PowerPoint</Application>
  <PresentationFormat>Widescreen</PresentationFormat>
  <Paragraphs>89</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BIA Template</vt:lpstr>
      <vt:lpstr>PowerPoint Presentation</vt:lpstr>
      <vt:lpstr>Agenda</vt:lpstr>
      <vt:lpstr>Problem Statement</vt:lpstr>
      <vt:lpstr>Dataset Overview</vt:lpstr>
      <vt:lpstr>PowerPoint Presentation</vt:lpstr>
      <vt:lpstr>Exploratory Data Analysis</vt:lpstr>
      <vt:lpstr>Model Building</vt:lpstr>
      <vt:lpstr>Model Evaluation &amp; Results</vt:lpstr>
      <vt:lpstr>Financial Impact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Harsh Sewatkar</cp:lastModifiedBy>
  <cp:revision>2257</cp:revision>
  <dcterms:created xsi:type="dcterms:W3CDTF">2020-12-23T13:36:00Z</dcterms:created>
  <dcterms:modified xsi:type="dcterms:W3CDTF">2026-02-24T06:29:39Z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